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0" r:id="rId5"/>
    <p:sldId id="263" r:id="rId6"/>
    <p:sldId id="264" r:id="rId7"/>
  </p:sldIdLst>
  <p:sldSz cx="12192000" cy="6858000"/>
  <p:notesSz cx="6858000" cy="9144000"/>
  <p:defaultTextStyle>
    <a:defPPr>
      <a:defRPr lang="sr-Latn-R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5FEA125-9679-F339-C298-91F1D2692C9D}" v="511" dt="2026-05-31T17:38:57.1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27050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58333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37505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80818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96879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60044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13051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22451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45172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3785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71622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34589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59196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91789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39423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0708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87152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6/24/2026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97793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r-HR"/>
              <a:t>Otkrivači grešaka </a:t>
            </a:r>
            <a:endParaRPr lang="hr-HR" dirty="0"/>
          </a:p>
        </p:txBody>
      </p:sp>
      <p:sp>
        <p:nvSpPr>
          <p:cNvPr id="3" name="Podnaslov 2"/>
          <p:cNvSpPr>
            <a:spLocks noGrp="1"/>
          </p:cNvSpPr>
          <p:nvPr>
            <p:ph type="subTitle" idx="1"/>
          </p:nvPr>
        </p:nvSpPr>
        <p:spPr>
          <a:xfrm>
            <a:off x="5043697" y="3996267"/>
            <a:ext cx="6987645" cy="1388534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hr-HR"/>
              <a:t>Bartol Gracin, Vid Joha , Matija Njegač</a:t>
            </a:r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4147140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8D5C12DD-7AC1-22BB-CCE3-6F40669EC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>
                <a:latin typeface="Aptos Display"/>
              </a:rPr>
              <a:t>Asinkroni distribuirani sustav</a:t>
            </a:r>
            <a:endParaRPr lang="sr-Latn-RS"/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623305D8-5656-0600-1813-5671FBDC79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hr-HR"/>
              <a:t>Sustav u kojem proces nema gornje vremenske granice</a:t>
            </a:r>
            <a:r>
              <a:rPr lang="hr-HR">
                <a:latin typeface="Aptos"/>
              </a:rPr>
              <a:t> za izvršavanje koraka izračuna ili za slanje poruke </a:t>
            </a:r>
            <a:endParaRPr lang="sr-Latn-RS"/>
          </a:p>
          <a:p>
            <a:r>
              <a:rPr lang="hr-HR">
                <a:latin typeface="Aptos"/>
              </a:rPr>
              <a:t>U asinkronom distribuiranom sustavu ne postoji gornja granica relativnih brzina procesora, vremena izvršavanja, pomaka satova i kašnjenja tijekom prijenosa poruka, ali su konačne</a:t>
            </a:r>
          </a:p>
          <a:p>
            <a:r>
              <a:rPr lang="hr-HR">
                <a:latin typeface="Aptos"/>
              </a:rPr>
              <a:t>To je uglavnom uzrokovano nepredvidivim opterećenjima sustava</a:t>
            </a:r>
            <a:endParaRPr lang="hr-HR" dirty="0"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9495097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E3A31275-5118-1F94-819A-67A50EEE6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/>
              <a:t>Sustavi otporni na greške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8CA8F116-3823-6A1A-18B3-31A6C7217C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hr-HR"/>
              <a:t>Tolerancija pogrešaka je sposobnost sustava da se nosi s greškama bez ikakve degradacije ili zastoja</a:t>
            </a:r>
            <a:endParaRPr lang="hr-HR" dirty="0"/>
          </a:p>
          <a:p>
            <a:r>
              <a:rPr lang="hr-HR">
                <a:latin typeface="Aptos"/>
              </a:rPr>
              <a:t>Sustavi otporni na greške maskiraju pogreške i održavaju nesmetan rad u prisutnosti jedne ili više neispravnih komponenti</a:t>
            </a:r>
            <a:endParaRPr lang="hr-HR" dirty="0">
              <a:latin typeface="Aptos"/>
            </a:endParaRPr>
          </a:p>
          <a:p>
            <a:r>
              <a:rPr lang="hr-HR"/>
              <a:t>U slučaju pogreške, krajnji korisnici ostaju nesvjesni ikakvih problema</a:t>
            </a:r>
          </a:p>
          <a:p>
            <a:r>
              <a:rPr lang="hr-HR">
                <a:latin typeface="Aptos" panose="020B0004020202020204"/>
              </a:rPr>
              <a:t>Dvije najvažnije paradigme u dizajnu distribuiranih sustava otpornih na greške su konsenzus i atomsko emitiranje</a:t>
            </a:r>
            <a:endParaRPr lang="hr-HR" dirty="0">
              <a:latin typeface="Aptos" panose="020B0004020202020204"/>
            </a:endParaRPr>
          </a:p>
          <a:p>
            <a:pPr marL="0" indent="0">
              <a:buNone/>
            </a:pP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8976456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26BB7016-581D-0FA0-4976-033E619E3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r-HR">
                <a:latin typeface="Aptos Display"/>
              </a:rPr>
              <a:t>Konsenzus i atomsko emitiranje</a:t>
            </a:r>
            <a:endParaRPr lang="sr-Latn-RS"/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6E9AF276-B655-4023-3905-14EA7156FA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83640" y="2435225"/>
            <a:ext cx="5181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hr-HR" sz="2400"/>
              <a:t>Konsenzus</a:t>
            </a:r>
          </a:p>
          <a:p>
            <a:pPr marL="0" indent="0">
              <a:buNone/>
            </a:pPr>
            <a:r>
              <a:rPr lang="hr-HR" sz="2400" dirty="0">
                <a:ea typeface="+mn-lt"/>
                <a:cs typeface="+mn-lt"/>
              </a:rPr>
              <a:t>Konsenzus omogućuje skupu procesa da postigne zajedničku </a:t>
            </a:r>
            <a:r>
              <a:rPr lang="hr-HR" sz="2400">
                <a:ea typeface="+mn-lt"/>
                <a:cs typeface="+mn-lt"/>
              </a:rPr>
              <a:t>odluku ili vrijednost </a:t>
            </a:r>
            <a:endParaRPr lang="hr-HR" sz="2400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hr-HR" sz="2400">
                <a:ea typeface="+mn-lt"/>
                <a:cs typeface="+mn-lt"/>
              </a:rPr>
              <a:t>Ona ovisi o </a:t>
            </a:r>
            <a:r>
              <a:rPr lang="hr-HR" sz="2400" dirty="0">
                <a:ea typeface="+mn-lt"/>
                <a:cs typeface="+mn-lt"/>
              </a:rPr>
              <a:t>početnim vrijednostima u procesima, bez obzira na neuspjehe</a:t>
            </a:r>
            <a:endParaRPr lang="hr-HR" sz="2400"/>
          </a:p>
          <a:p>
            <a:pPr marL="0" indent="0">
              <a:buNone/>
            </a:pPr>
            <a:endParaRPr lang="hr-HR" dirty="0"/>
          </a:p>
        </p:txBody>
      </p:sp>
      <p:sp>
        <p:nvSpPr>
          <p:cNvPr id="4" name="Rezervirano mjesto sadržaja 3">
            <a:extLst>
              <a:ext uri="{FF2B5EF4-FFF2-40B4-BE49-F238E27FC236}">
                <a16:creationId xmlns:a16="http://schemas.microsoft.com/office/drawing/2014/main" id="{E181ACC6-D77D-1D9A-BB0D-BD680CCE7A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07967" y="2423160"/>
            <a:ext cx="4895056" cy="31242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hr-HR" sz="2400"/>
              <a:t>Atomsko emitiranje</a:t>
            </a:r>
          </a:p>
          <a:p>
            <a:pPr marL="0" indent="0">
              <a:buNone/>
            </a:pPr>
            <a:r>
              <a:rPr lang="hr-HR" sz="2400" dirty="0">
                <a:ea typeface="+mn-lt"/>
                <a:cs typeface="+mn-lt"/>
              </a:rPr>
              <a:t>U atomskom emitiranju, procesi pouzdano emitiraju </a:t>
            </a:r>
            <a:r>
              <a:rPr lang="hr-HR" sz="2400">
                <a:ea typeface="+mn-lt"/>
                <a:cs typeface="+mn-lt"/>
              </a:rPr>
              <a:t>poruke</a:t>
            </a:r>
            <a:endParaRPr lang="hr-HR" sz="2400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hr-HR" sz="2400">
                <a:ea typeface="+mn-lt"/>
                <a:cs typeface="+mn-lt"/>
              </a:rPr>
              <a:t>Slažu se oko skupa isporučenih </a:t>
            </a:r>
            <a:r>
              <a:rPr lang="hr-HR" sz="2400" dirty="0">
                <a:ea typeface="+mn-lt"/>
                <a:cs typeface="+mn-lt"/>
              </a:rPr>
              <a:t>poruka i redoslijeda isporuke poruka</a:t>
            </a:r>
            <a:endParaRPr lang="hr-HR" sz="2400"/>
          </a:p>
        </p:txBody>
      </p:sp>
      <p:cxnSp>
        <p:nvCxnSpPr>
          <p:cNvPr id="6" name="Ravni poveznik sa strelicom 5">
            <a:extLst>
              <a:ext uri="{FF2B5EF4-FFF2-40B4-BE49-F238E27FC236}">
                <a16:creationId xmlns:a16="http://schemas.microsoft.com/office/drawing/2014/main" id="{51E20F7E-EADA-3681-6A1C-8E4C1C632BDE}"/>
              </a:ext>
            </a:extLst>
          </p:cNvPr>
          <p:cNvCxnSpPr/>
          <p:nvPr/>
        </p:nvCxnSpPr>
        <p:spPr>
          <a:xfrm flipH="1">
            <a:off x="6371243" y="1840807"/>
            <a:ext cx="13854" cy="4932218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51921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9699585F-C94E-EC5C-7120-F79999D32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/>
              <a:t>Sustavi otporni na greške</a:t>
            </a:r>
            <a:endParaRPr lang="sr-Latn-RS"/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3D8A6EC3-A101-FB8E-759B-50424C7BB0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hr-HR">
                <a:ea typeface="+mn-lt"/>
                <a:cs typeface="+mn-lt"/>
              </a:rPr>
              <a:t>Otkrivanje kvarova procesa je ključan zadatak u dizajnu distribuiranih sustava otpornih na kvarove</a:t>
            </a:r>
          </a:p>
          <a:p>
            <a:r>
              <a:rPr lang="hr-HR">
                <a:ea typeface="+mn-lt"/>
                <a:cs typeface="+mn-lt"/>
              </a:rPr>
              <a:t>Otkrivanje srušenih procesa posebno je teško u asinkronim sustavima jer je nemoguće utvrditi je li se proces stvarno srušio ili je vrlo spor</a:t>
            </a:r>
          </a:p>
          <a:p>
            <a:r>
              <a:rPr lang="hr-HR"/>
              <a:t>Zbog tog razloga je moguće dizajnirati samo </a:t>
            </a:r>
            <a:r>
              <a:rPr lang="hr-HR">
                <a:latin typeface="Aptos" panose="020B0004020202020204"/>
              </a:rPr>
              <a:t>nepouzdane detektore kvarova</a:t>
            </a:r>
            <a:endParaRPr lang="hr-HR" dirty="0">
              <a:latin typeface="Aptos" panose="020B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6360214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8331E8F9-4D24-0735-2EF5-2846F43B1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/>
              <a:t>Kvarovi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B104A975-D748-5A23-0201-6F6254F7E3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hr-HR"/>
              <a:t>Kažemo da se proces π ruši u trenutku t ako π ne izvrši nikakvu akciju nakon vremena t</a:t>
            </a:r>
          </a:p>
          <a:p>
            <a:r>
              <a:rPr lang="hr-HR"/>
              <a:t>Jednom kad se proces sruši ne može se ponovno pokrenuti</a:t>
            </a:r>
          </a:p>
          <a:p>
            <a:r>
              <a:rPr lang="hr-HR">
                <a:ea typeface="+mn-lt"/>
                <a:cs typeface="+mn-lt"/>
              </a:rPr>
              <a:t>Crashed(t, Ω) je skup svih procesa koji su se srušili do trenutka t u hodu Ω, dok je  Up(t,Ω) skup onih koji se nisu srušili do trenutka t</a:t>
            </a:r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413364695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Široki zaslon</PresentationFormat>
  <Paragraphs>0</Paragraphs>
  <Slides>6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Naslovi slajdova</vt:lpstr>
      </vt:variant>
      <vt:variant>
        <vt:i4>6</vt:i4>
      </vt:variant>
    </vt:vector>
  </HeadingPairs>
  <TitlesOfParts>
    <vt:vector size="7" baseType="lpstr">
      <vt:lpstr>Parallax</vt:lpstr>
      <vt:lpstr>Otkrivači grešaka </vt:lpstr>
      <vt:lpstr>Asinkroni distribuirani sustav</vt:lpstr>
      <vt:lpstr>Sustavi otporni na greške</vt:lpstr>
      <vt:lpstr>Konsenzus i atomsko emitiranje</vt:lpstr>
      <vt:lpstr>Sustavi otporni na greške</vt:lpstr>
      <vt:lpstr>Kvarovi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181</cp:revision>
  <dcterms:created xsi:type="dcterms:W3CDTF">2026-05-31T15:40:15Z</dcterms:created>
  <dcterms:modified xsi:type="dcterms:W3CDTF">2026-06-24T20:25:21Z</dcterms:modified>
</cp:coreProperties>
</file>