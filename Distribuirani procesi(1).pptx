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C407B5-E6AE-204D-325E-5E02FAF80D84}" v="791" dt="2026-06-29T22:10:33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705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833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3750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8081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68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00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305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45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51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78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71622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4589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9196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1789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9423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708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715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77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/>
              <a:t>Otkrivači grešaka </a:t>
            </a:r>
            <a:endParaRPr lang="hr-HR" dirty="0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5043697" y="3996267"/>
            <a:ext cx="6987645" cy="138853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hr-HR"/>
              <a:t>Bartol Gracin, Vid Joha , Matija Njegač</a:t>
            </a:r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41471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5C12DD-7AC1-22BB-CCE3-6F40669E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>
                <a:latin typeface="Aptos Display"/>
              </a:rPr>
              <a:t>Asinkroni distribuirani sustav</a:t>
            </a:r>
            <a:endParaRPr lang="sr-Latn-RS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23305D8-5656-0600-1813-5671FBDC7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Sustav u kojem proces nema gornje vremenske granice</a:t>
            </a:r>
            <a:r>
              <a:rPr lang="hr-HR">
                <a:latin typeface="Aptos"/>
              </a:rPr>
              <a:t> za izvršavanje koraka izračuna ili za slanje poruke </a:t>
            </a:r>
            <a:endParaRPr lang="sr-Latn-RS"/>
          </a:p>
          <a:p>
            <a:r>
              <a:rPr lang="hr-HR">
                <a:latin typeface="Aptos"/>
              </a:rPr>
              <a:t>U asinkronom distribuiranom sustavu ne postoji gornja granica relativnih brzina procesora, vremena izvršavanja, pomaka satova i kašnjenja tijekom prijenosa poruka, ali su konačne</a:t>
            </a:r>
          </a:p>
          <a:p>
            <a:r>
              <a:rPr lang="hr-HR">
                <a:latin typeface="Aptos"/>
              </a:rPr>
              <a:t>To je uglavnom uzrokovano nepredvidivim opterećenjima sustava</a:t>
            </a:r>
            <a:endParaRPr lang="hr-HR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49509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3A31275-5118-1F94-819A-67A50EEE6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Sustavi otporni na greške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8CA8F116-3823-6A1A-18B3-31A6C7217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Tolerancija pogrešaka je sposobnost sustava da se nosi s greškama bez ikakve degradacije ili zastoja</a:t>
            </a:r>
            <a:endParaRPr lang="hr-HR" dirty="0"/>
          </a:p>
          <a:p>
            <a:r>
              <a:rPr lang="hr-HR">
                <a:latin typeface="Aptos"/>
              </a:rPr>
              <a:t>Sustavi otporni na greške maskiraju pogreške i održavaju nesmetan rad u prisutnosti jedne ili više neispravnih komponenti</a:t>
            </a:r>
            <a:endParaRPr lang="hr-HR" dirty="0">
              <a:latin typeface="Aptos"/>
            </a:endParaRPr>
          </a:p>
          <a:p>
            <a:r>
              <a:rPr lang="hr-HR"/>
              <a:t>U slučaju pogreške, krajnji korisnici ostaju nesvjesni ikakvih problema</a:t>
            </a:r>
          </a:p>
          <a:p>
            <a:r>
              <a:rPr lang="hr-HR">
                <a:latin typeface="Aptos" panose="020B0004020202020204"/>
              </a:rPr>
              <a:t>Dvije najvažnije paradigme u dizajnu distribuiranih sustava otpornih na greške su konsenzus i atomsko emitiranje</a:t>
            </a:r>
            <a:endParaRPr lang="hr-HR" dirty="0">
              <a:latin typeface="Aptos" panose="020B0004020202020204"/>
            </a:endParaRPr>
          </a:p>
          <a:p>
            <a:pPr marL="0" indent="0">
              <a:buNone/>
            </a:pP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97645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6BB7016-581D-0FA0-4976-033E619E3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r-HR">
                <a:latin typeface="Aptos Display"/>
              </a:rPr>
              <a:t>Konsenzus i atomsko emitiranje</a:t>
            </a:r>
            <a:endParaRPr lang="sr-Latn-RS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E9AF276-B655-4023-3905-14EA7156F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3640" y="2435225"/>
            <a:ext cx="5181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hr-HR" sz="2400"/>
              <a:t>Konsenzus</a:t>
            </a:r>
          </a:p>
          <a:p>
            <a:pPr marL="0" indent="0">
              <a:buNone/>
            </a:pPr>
            <a:r>
              <a:rPr lang="hr-HR" sz="2400" dirty="0">
                <a:ea typeface="+mn-lt"/>
                <a:cs typeface="+mn-lt"/>
              </a:rPr>
              <a:t>Konsenzus omogućuje skupu procesa da postigne zajedničku </a:t>
            </a:r>
            <a:r>
              <a:rPr lang="hr-HR" sz="2400">
                <a:ea typeface="+mn-lt"/>
                <a:cs typeface="+mn-lt"/>
              </a:rPr>
              <a:t>odluku ili vrijednost </a:t>
            </a:r>
            <a:endParaRPr lang="hr-HR" sz="24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r-HR" sz="2400">
                <a:ea typeface="+mn-lt"/>
                <a:cs typeface="+mn-lt"/>
              </a:rPr>
              <a:t>Ona ovisi o </a:t>
            </a:r>
            <a:r>
              <a:rPr lang="hr-HR" sz="2400" dirty="0">
                <a:ea typeface="+mn-lt"/>
                <a:cs typeface="+mn-lt"/>
              </a:rPr>
              <a:t>početnim vrijednostima u procesima, bez obzira na neuspjehe</a:t>
            </a:r>
            <a:endParaRPr lang="hr-HR" sz="2400"/>
          </a:p>
          <a:p>
            <a:pPr marL="0" indent="0">
              <a:buNone/>
            </a:pPr>
            <a:endParaRPr lang="hr-HR" dirty="0"/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E181ACC6-D77D-1D9A-BB0D-BD680CCE7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07967" y="2423160"/>
            <a:ext cx="4895056" cy="31242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hr-HR" sz="2400"/>
              <a:t>Atomsko emitiranje</a:t>
            </a:r>
          </a:p>
          <a:p>
            <a:pPr marL="0" indent="0">
              <a:buNone/>
            </a:pPr>
            <a:r>
              <a:rPr lang="hr-HR" sz="2400" dirty="0">
                <a:ea typeface="+mn-lt"/>
                <a:cs typeface="+mn-lt"/>
              </a:rPr>
              <a:t>U atomskom emitiranju, procesi pouzdano emitiraju </a:t>
            </a:r>
            <a:r>
              <a:rPr lang="hr-HR" sz="2400">
                <a:ea typeface="+mn-lt"/>
                <a:cs typeface="+mn-lt"/>
              </a:rPr>
              <a:t>poruke</a:t>
            </a:r>
            <a:endParaRPr lang="hr-HR" sz="24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r-HR" sz="2400">
                <a:ea typeface="+mn-lt"/>
                <a:cs typeface="+mn-lt"/>
              </a:rPr>
              <a:t>Slažu se oko skupa isporučenih </a:t>
            </a:r>
            <a:r>
              <a:rPr lang="hr-HR" sz="2400" dirty="0">
                <a:ea typeface="+mn-lt"/>
                <a:cs typeface="+mn-lt"/>
              </a:rPr>
              <a:t>poruka i redoslijeda isporuke poruka</a:t>
            </a:r>
            <a:endParaRPr lang="hr-HR" sz="2400"/>
          </a:p>
        </p:txBody>
      </p:sp>
      <p:cxnSp>
        <p:nvCxnSpPr>
          <p:cNvPr id="6" name="Ravni poveznik sa strelicom 5">
            <a:extLst>
              <a:ext uri="{FF2B5EF4-FFF2-40B4-BE49-F238E27FC236}">
                <a16:creationId xmlns:a16="http://schemas.microsoft.com/office/drawing/2014/main" id="{51E20F7E-EADA-3681-6A1C-8E4C1C632BDE}"/>
              </a:ext>
            </a:extLst>
          </p:cNvPr>
          <p:cNvCxnSpPr/>
          <p:nvPr/>
        </p:nvCxnSpPr>
        <p:spPr>
          <a:xfrm flipH="1">
            <a:off x="6371243" y="1840807"/>
            <a:ext cx="13854" cy="493221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192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699585F-C94E-EC5C-7120-F79999D32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Sustavi otporni na greške</a:t>
            </a:r>
            <a:endParaRPr lang="sr-Latn-RS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3D8A6EC3-A101-FB8E-759B-50424C7BB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>
                <a:ea typeface="+mn-lt"/>
                <a:cs typeface="+mn-lt"/>
              </a:rPr>
              <a:t>Otkrivanje kvarova procesa je ključan zadatak u dizajnu distribuiranih sustava otpornih na kvarove</a:t>
            </a:r>
          </a:p>
          <a:p>
            <a:r>
              <a:rPr lang="hr-HR">
                <a:ea typeface="+mn-lt"/>
                <a:cs typeface="+mn-lt"/>
              </a:rPr>
              <a:t>Otkrivanje srušenih procesa posebno je teško u asinkronim sustavima jer je nemoguće utvrditi je li se proces stvarno srušio ili je vrlo spor</a:t>
            </a:r>
          </a:p>
          <a:p>
            <a:r>
              <a:rPr lang="hr-HR"/>
              <a:t>Zbog tog razloga je moguće dizajnirati samo </a:t>
            </a:r>
            <a:r>
              <a:rPr lang="hr-HR">
                <a:latin typeface="Aptos" panose="020B0004020202020204"/>
              </a:rPr>
              <a:t>nepouzdane detektore kvarova</a:t>
            </a:r>
            <a:endParaRPr lang="hr-HR" dirty="0">
              <a:latin typeface="Aptos" panose="020B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636021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31E8F9-4D24-0735-2EF5-2846F43B1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Kvarovi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B104A975-D748-5A23-0201-6F6254F7E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Kažemo da se proces π ruši u trenutku t ako π ne izvrši nikakvu akciju nakon vremena t</a:t>
            </a:r>
          </a:p>
          <a:p>
            <a:r>
              <a:rPr lang="hr-HR"/>
              <a:t>Jednom kad se proces sruši ne može se ponovno pokrenuti</a:t>
            </a:r>
          </a:p>
          <a:p>
            <a:r>
              <a:rPr lang="hr-HR">
                <a:ea typeface="+mn-lt"/>
                <a:cs typeface="+mn-lt"/>
              </a:rPr>
              <a:t>Crashed(t, Ω) je skup svih procesa koji su se srušili do trenutka t u hodu Ω, dok je  Up(t,Ω) skup onih koji se nisu srušili do trenutka t</a:t>
            </a:r>
          </a:p>
          <a:p>
            <a:pPr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Up(t,Ω ) = Q − Crashed(t,Ω )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33646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2C4427C-ED8B-7BAD-45CE-9BD50DFE1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Detektori kvarova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88663DE-13DB-1305-4460-233028807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>
                <a:latin typeface="Corbel"/>
              </a:rPr>
              <a:t>Detektor kvarova D je distribuirani orakl koji daje naznake o kvarovima</a:t>
            </a:r>
            <a:endParaRPr lang="sr-Latn-RS"/>
          </a:p>
          <a:p>
            <a:pPr>
              <a:buClr>
                <a:srgbClr val="1287C3"/>
              </a:buClr>
            </a:pPr>
            <a:r>
              <a:rPr lang="hr-HR">
                <a:latin typeface="Corbel"/>
              </a:rPr>
              <a:t>Svaki proces pi u distribuiranom okruženju ima svoj lokalni detektor kvarova D</a:t>
            </a:r>
            <a:r>
              <a:rPr lang="hr-HR" baseline="-25000">
                <a:latin typeface="Corbel"/>
              </a:rPr>
              <a:t>i</a:t>
            </a:r>
            <a:r>
              <a:rPr lang="hr-HR">
                <a:latin typeface="Corbel"/>
              </a:rPr>
              <a:t>, koji prati sve ostale procese i održava popis procesa za koje p</a:t>
            </a:r>
            <a:r>
              <a:rPr lang="hr-HR" baseline="-25000">
                <a:latin typeface="Corbel"/>
              </a:rPr>
              <a:t>i</a:t>
            </a:r>
            <a:r>
              <a:rPr lang="hr-HR">
                <a:latin typeface="Corbel"/>
              </a:rPr>
              <a:t> trenutno sumnja da su se srušili</a:t>
            </a:r>
          </a:p>
          <a:p>
            <a:pPr>
              <a:buClr>
                <a:srgbClr val="1287C3"/>
              </a:buClr>
            </a:pPr>
            <a:r>
              <a:rPr lang="hr-HR">
                <a:latin typeface="Corbel"/>
              </a:rPr>
              <a:t>Sumnja se temelji na duljini vremena za koje pi nije dobio poruku od drugih procesa 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34291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B3961BB-703A-BE3A-A277-686CCCFA2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Detektori kvarova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BDCD600-789C-5916-9F59-C9020E845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>
                <a:ea typeface="+mn-lt"/>
                <a:cs typeface="+mn-lt"/>
              </a:rPr>
              <a:t>Detektor kvarova D = &lt;D</a:t>
            </a:r>
            <a:r>
              <a:rPr lang="hr-HR" baseline="-25000">
                <a:ea typeface="+mn-lt"/>
                <a:cs typeface="+mn-lt"/>
              </a:rPr>
              <a:t>p1</a:t>
            </a:r>
            <a:r>
              <a:rPr lang="hr-HR">
                <a:ea typeface="+mn-lt"/>
                <a:cs typeface="+mn-lt"/>
              </a:rPr>
              <a:t>, D</a:t>
            </a:r>
            <a:r>
              <a:rPr lang="hr-HR" baseline="-25000">
                <a:ea typeface="+mn-lt"/>
                <a:cs typeface="+mn-lt"/>
              </a:rPr>
              <a:t>p2</a:t>
            </a:r>
            <a:r>
              <a:rPr lang="hr-HR">
                <a:ea typeface="+mn-lt"/>
                <a:cs typeface="+mn-lt"/>
              </a:rPr>
              <a:t>,…, D</a:t>
            </a:r>
            <a:r>
              <a:rPr lang="hr-HR" baseline="-25000">
                <a:ea typeface="+mn-lt"/>
                <a:cs typeface="+mn-lt"/>
              </a:rPr>
              <a:t>pn</a:t>
            </a:r>
            <a:r>
              <a:rPr lang="hr-HR">
                <a:ea typeface="+mn-lt"/>
                <a:cs typeface="+mn-lt"/>
              </a:rPr>
              <a:t>&gt; gdje je D</a:t>
            </a:r>
            <a:r>
              <a:rPr lang="hr-HR" baseline="-25000">
                <a:ea typeface="+mn-lt"/>
                <a:cs typeface="+mn-lt"/>
              </a:rPr>
              <a:t>i</a:t>
            </a:r>
            <a:r>
              <a:rPr lang="hr-HR">
                <a:ea typeface="+mn-lt"/>
                <a:cs typeface="+mn-lt"/>
              </a:rPr>
              <a:t> detektor kvarova za proces p</a:t>
            </a:r>
            <a:r>
              <a:rPr lang="hr-HR" baseline="-25000">
                <a:ea typeface="+mn-lt"/>
                <a:cs typeface="+mn-lt"/>
              </a:rPr>
              <a:t>i</a:t>
            </a:r>
          </a:p>
          <a:p>
            <a:pPr>
              <a:buClr>
                <a:srgbClr val="1287C3"/>
              </a:buClr>
            </a:pPr>
            <a:r>
              <a:rPr lang="hr-HR"/>
              <a:t>D</a:t>
            </a:r>
            <a:r>
              <a:rPr lang="hr-HR" baseline="-25000"/>
              <a:t>p</a:t>
            </a:r>
            <a:r>
              <a:rPr lang="hr-HR"/>
              <a:t>(t, Ω) je skup svih procesa za koje p sumnja da su se srušili do trenutka t</a:t>
            </a:r>
          </a:p>
        </p:txBody>
      </p:sp>
    </p:spTree>
    <p:extLst>
      <p:ext uri="{BB962C8B-B14F-4D97-AF65-F5344CB8AC3E}">
        <p14:creationId xmlns:p14="http://schemas.microsoft.com/office/powerpoint/2010/main" val="3473397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FC834BB-49DD-3AE6-954B-AC96C474B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Detektori kvarova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0E53F3E-027F-0429-F857-35820FA78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>
                <a:ea typeface="+mn-lt"/>
                <a:cs typeface="+mn-lt"/>
              </a:rPr>
              <a:t>Detektori kvarova mogu pogriješiti, tj. ispravan proces može biti dodan na popis srušenih, a kasnije uklonjen ako detektor kvarova shvati da je došlo do pogreške</a:t>
            </a:r>
          </a:p>
          <a:p>
            <a:pPr>
              <a:buClr>
                <a:srgbClr val="1287C3"/>
              </a:buClr>
            </a:pPr>
            <a:r>
              <a:rPr lang="hr-HR"/>
              <a:t>Imamo 2 svojstva, potpunost i točnost</a:t>
            </a:r>
          </a:p>
          <a:p>
            <a:pPr>
              <a:buClr>
                <a:srgbClr val="1287C3"/>
              </a:buClr>
            </a:pPr>
            <a:r>
              <a:rPr lang="hr-HR"/>
              <a:t>Potpunost zahtjeva da detektor nakon nekog vremena sumnja na sve procese koji su se srušili</a:t>
            </a:r>
          </a:p>
          <a:p>
            <a:pPr>
              <a:buClr>
                <a:srgbClr val="1287C3"/>
              </a:buClr>
            </a:pPr>
            <a:r>
              <a:rPr lang="hr-HR"/>
              <a:t>Točnost ograničava detektore da sumnjaju na ispravne procese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13765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F718D80-197E-B7ED-58B1-6D00B28B1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Potpunost 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1B4E35C-5EDA-625D-9829-17706258C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/>
              <a:t>Jaka potpunost: </a:t>
            </a:r>
            <a:r>
              <a:rPr lang="hr-HR">
                <a:latin typeface="Corbel"/>
              </a:rPr>
              <a:t>Naposljetku, svaki proces koji se srušio postaje trajno sumnjiv </a:t>
            </a:r>
            <a:r>
              <a:rPr lang="hr-HR" u="sng">
                <a:latin typeface="Corbel"/>
              </a:rPr>
              <a:t>svakom</a:t>
            </a:r>
            <a:r>
              <a:rPr lang="hr-HR">
                <a:latin typeface="Corbel"/>
              </a:rPr>
              <a:t> ispravnom procesu</a:t>
            </a:r>
          </a:p>
          <a:p>
            <a:pPr>
              <a:buClr>
                <a:srgbClr val="1287C3"/>
              </a:buClr>
            </a:pPr>
            <a:endParaRPr lang="hr-HR" dirty="0">
              <a:latin typeface="Corbel"/>
              <a:ea typeface="+mn-lt"/>
              <a:cs typeface="+mn-lt"/>
            </a:endParaRPr>
          </a:p>
          <a:p>
            <a:pPr marL="0" indent="0">
              <a:buClr>
                <a:srgbClr val="1287C3"/>
              </a:buClr>
              <a:buNone/>
            </a:pPr>
            <a:endParaRPr lang="hr-HR" dirty="0">
              <a:latin typeface="Corbel"/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r>
              <a:rPr lang="hr-HR">
                <a:latin typeface="Corbel"/>
                <a:ea typeface="+mn-lt"/>
                <a:cs typeface="+mn-lt"/>
              </a:rPr>
              <a:t>Slaba potpunost: Naposljetku, svaki proces koji se srušio postaje trajno sumnjiv </a:t>
            </a:r>
            <a:r>
              <a:rPr lang="hr-HR" u="sng">
                <a:latin typeface="Corbel"/>
                <a:ea typeface="+mn-lt"/>
                <a:cs typeface="+mn-lt"/>
              </a:rPr>
              <a:t>nekom</a:t>
            </a:r>
            <a:r>
              <a:rPr lang="hr-HR">
                <a:latin typeface="Corbel"/>
                <a:ea typeface="+mn-lt"/>
                <a:cs typeface="+mn-lt"/>
              </a:rPr>
              <a:t> ispravnom procesu</a:t>
            </a:r>
          </a:p>
        </p:txBody>
      </p:sp>
      <p:pic>
        <p:nvPicPr>
          <p:cNvPr id="4" name="Slika 3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D1BE1460-8CC7-F84C-EFE1-09384EF53F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714" t="67802" r="18452" b="27912"/>
          <a:stretch>
            <a:fillRect/>
          </a:stretch>
        </p:blipFill>
        <p:spPr>
          <a:xfrm>
            <a:off x="1821543" y="3806372"/>
            <a:ext cx="6451621" cy="420927"/>
          </a:xfrm>
          <a:prstGeom prst="rect">
            <a:avLst/>
          </a:prstGeom>
        </p:spPr>
      </p:pic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BE50AFBC-C907-98C5-82CA-D23B343D97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536" t="80989" r="18333" b="14020"/>
          <a:stretch>
            <a:fillRect/>
          </a:stretch>
        </p:blipFill>
        <p:spPr>
          <a:xfrm>
            <a:off x="1821543" y="5656943"/>
            <a:ext cx="6451607" cy="47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37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ABF94AD-7929-55B7-CF45-F955007B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Točnost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ED751E5-909B-6AA9-9B9C-58AE11DD7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/>
              <a:t>Jaka točnost: </a:t>
            </a:r>
            <a:r>
              <a:rPr lang="hr-HR">
                <a:ea typeface="+mn-lt"/>
                <a:cs typeface="+mn-lt"/>
              </a:rPr>
              <a:t>Ispravni procesi nikada nisu sumnjivi nijednom ispravnom procesu</a:t>
            </a: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Slaba točnost: Neki ispravan proces nikad nije sumnjiv nijednom ispravnom procesu</a:t>
            </a:r>
          </a:p>
          <a:p>
            <a:pPr>
              <a:buClr>
                <a:srgbClr val="1287C3"/>
              </a:buClr>
            </a:pP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endParaRPr lang="hr-HR" dirty="0">
              <a:ea typeface="+mn-lt"/>
              <a:cs typeface="+mn-lt"/>
            </a:endParaRPr>
          </a:p>
        </p:txBody>
      </p:sp>
      <p:pic>
        <p:nvPicPr>
          <p:cNvPr id="4" name="Slika 3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F982BF18-BC41-30B5-1412-C56989043F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90" t="59011" r="24702" b="37143"/>
          <a:stretch>
            <a:fillRect/>
          </a:stretch>
        </p:blipFill>
        <p:spPr>
          <a:xfrm>
            <a:off x="1814286" y="3408992"/>
            <a:ext cx="4949389" cy="442752"/>
          </a:xfrm>
          <a:prstGeom prst="rect">
            <a:avLst/>
          </a:prstGeom>
        </p:spPr>
      </p:pic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9A7805E1-1CE3-A7AB-E6E9-741C7BE4CE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071" t="80000" r="23274" b="15494"/>
          <a:stretch>
            <a:fillRect/>
          </a:stretch>
        </p:blipFill>
        <p:spPr>
          <a:xfrm>
            <a:off x="1814286" y="4967514"/>
            <a:ext cx="4949385" cy="47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086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A499B02-0A68-A005-EA7F-6CEF49519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257629"/>
            <a:ext cx="10018713" cy="1752599"/>
          </a:xfrm>
        </p:spPr>
        <p:txBody>
          <a:bodyPr/>
          <a:lstStyle/>
          <a:p>
            <a:r>
              <a:rPr lang="hr-HR"/>
              <a:t>Konačna točnost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2D95497-7763-0263-435D-CA9B5C00A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1716313"/>
            <a:ext cx="10018713" cy="5040086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spcBef>
                <a:spcPts val="20"/>
              </a:spcBef>
            </a:pPr>
            <a:r>
              <a:rPr lang="hr-HR"/>
              <a:t>Čak je i slabu točnost teško postići, jer detektor (čak i pri ispravnom procesu) može posumnjati na ispravan proces, a zatim kasnije ispraviti svoju pogrešku</a:t>
            </a:r>
            <a:endParaRPr lang="sr-Latn-RS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r>
              <a:rPr lang="hr-HR"/>
              <a:t>Svojstvo slabe točnosti to ne dopušta, stoga dodatno oslabljujemo zahtjev točnosti i dopuštamo detektore kvarova koji mogu posumnjati na ispravan proces u nekim točkama tijekom izvođenja, ali na kraju zadovoljavaju svojstva jake i slabe točnosti</a:t>
            </a:r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endParaRPr lang="hr-HR" dirty="0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Konačna jaka točnost: Postoji vrijeme nakon kojeg ispravni procesi više nisu sumnjivi nijedanom ispravanom procesu</a:t>
            </a:r>
            <a:endParaRPr lang="hr-HR" dirty="0">
              <a:ea typeface="+mn-lt"/>
              <a:cs typeface="+mn-lt"/>
            </a:endParaRPr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endParaRPr lang="hr-HR" dirty="0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r>
              <a:rPr lang="hr-HR"/>
              <a:t>Konačna slaba točnost: </a:t>
            </a:r>
            <a:r>
              <a:rPr lang="hr-HR">
                <a:ea typeface="+mn-lt"/>
                <a:cs typeface="+mn-lt"/>
              </a:rPr>
              <a:t>Postoji vrijeme nakon kojeg neki ispravan proces više nije sumnjiv nijednom ispravnom procesu</a:t>
            </a:r>
            <a:endParaRPr lang="hr-HR" dirty="0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endParaRPr lang="hr-HR" dirty="0"/>
          </a:p>
        </p:txBody>
      </p:sp>
      <p:pic>
        <p:nvPicPr>
          <p:cNvPr id="4" name="Slika 3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73414793-C0E4-BC54-ECA9-ACFD27E36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727" t="43959" r="23491" b="51732"/>
          <a:stretch>
            <a:fillRect/>
          </a:stretch>
        </p:blipFill>
        <p:spPr>
          <a:xfrm>
            <a:off x="2278743" y="5119914"/>
            <a:ext cx="4132369" cy="401334"/>
          </a:xfrm>
          <a:prstGeom prst="rect">
            <a:avLst/>
          </a:prstGeom>
        </p:spPr>
      </p:pic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7C8C0FC2-E8BC-5452-A565-98151F8E79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45" t="81868" r="22024" b="13130"/>
          <a:stretch>
            <a:fillRect/>
          </a:stretch>
        </p:blipFill>
        <p:spPr>
          <a:xfrm>
            <a:off x="2281645" y="6252029"/>
            <a:ext cx="4126418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418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7C0A290-30E8-035D-FC80-DD170B3B9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-39914"/>
            <a:ext cx="10018713" cy="1752599"/>
          </a:xfrm>
        </p:spPr>
        <p:txBody>
          <a:bodyPr/>
          <a:lstStyle/>
          <a:p>
            <a:r>
              <a:rPr lang="hr-HR"/>
              <a:t>Tipovi detektora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54DD9EE-E9EF-050A-D916-527065065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1201056"/>
            <a:ext cx="10018713" cy="5504543"/>
          </a:xfrm>
        </p:spPr>
        <p:txBody>
          <a:bodyPr/>
          <a:lstStyle/>
          <a:p>
            <a:r>
              <a:rPr lang="hr-HR"/>
              <a:t>S obzirom na 2 svojstva potpunosti i 4 svojstva konačnosti razlikujemo 8 tipova detektora</a:t>
            </a:r>
            <a:endParaRPr lang="sr-Latn-RS"/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1. Savršeni detektori kvarova (P) - jaka potpunost i jaka točnost</a:t>
            </a:r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2. Konačno savršeni detektori kvarova </a:t>
            </a:r>
            <a:r>
              <a:rPr lang="hr-HR">
                <a:ea typeface="+mn-lt"/>
                <a:cs typeface="+mn-lt"/>
              </a:rPr>
              <a:t>(♦P) - jaka potpunost i konačna jaka točnost</a:t>
            </a:r>
            <a:endParaRPr lang="hr-HR" dirty="0">
              <a:ea typeface="+mn-lt"/>
              <a:cs typeface="+mn-lt"/>
            </a:endParaRPr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3. </a:t>
            </a:r>
            <a:r>
              <a:rPr lang="hr-HR">
                <a:ea typeface="+mn-lt"/>
                <a:cs typeface="+mn-lt"/>
              </a:rPr>
              <a:t>Jaki detektori  kvarova (S) - jaka potpunost i slaba točnost</a:t>
            </a:r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4. </a:t>
            </a:r>
            <a:r>
              <a:rPr lang="hr-HR">
                <a:ea typeface="+mn-lt"/>
                <a:cs typeface="+mn-lt"/>
              </a:rPr>
              <a:t>Konačni jaki detektori kvarova (♦S) - jaka potpunost i konačna slaba točnost</a:t>
            </a:r>
            <a:endParaRPr lang="hr-HR" dirty="0"/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5. </a:t>
            </a:r>
            <a:r>
              <a:rPr lang="hr-HR">
                <a:ea typeface="+mn-lt"/>
                <a:cs typeface="+mn-lt"/>
              </a:rPr>
              <a:t>Slabi detektori kvarova (W) - slaba potpunost i slaba točnost</a:t>
            </a:r>
            <a:endParaRPr lang="hr-HR" dirty="0"/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6. </a:t>
            </a:r>
            <a:r>
              <a:rPr lang="hr-HR">
                <a:ea typeface="+mn-lt"/>
                <a:cs typeface="+mn-lt"/>
              </a:rPr>
              <a:t>Konačno slabi detektori kvarova (♦W) - slaba potpunost i konačna slaba točnost</a:t>
            </a:r>
            <a:endParaRPr lang="hr-HR" dirty="0"/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7. </a:t>
            </a:r>
            <a:r>
              <a:rPr lang="hr-HR">
                <a:ea typeface="+mn-lt"/>
                <a:cs typeface="+mn-lt"/>
              </a:rPr>
              <a:t>Detektori kvarova koji zadovoljavaju slabu potpunost i jaku točnost (𝒱 )</a:t>
            </a:r>
            <a:endParaRPr lang="hr-HR" dirty="0">
              <a:ea typeface="+mn-lt"/>
              <a:cs typeface="+mn-lt"/>
            </a:endParaRPr>
          </a:p>
          <a:p>
            <a:pPr lvl="1">
              <a:buClr>
                <a:srgbClr val="1287C3"/>
              </a:buClr>
              <a:buFont typeface="Courier New"/>
              <a:buChar char="o"/>
            </a:pPr>
            <a:r>
              <a:rPr lang="hr-HR"/>
              <a:t>8. </a:t>
            </a:r>
            <a:r>
              <a:rPr lang="hr-HR">
                <a:ea typeface="+mn-lt"/>
                <a:cs typeface="+mn-lt"/>
              </a:rPr>
              <a:t>Detektori kvarova koji zadovoljavaju slabu potpunost i konačnu jaku točnost (♦𝒱 )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04274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9CCFC09-E551-1D6B-8505-380228ED7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Reduciranje detektora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39C2166-076E-6FBD-CC98-43AA6264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342900" indent="-342900"/>
            <a:r>
              <a:rPr lang="hr-HR">
                <a:ea typeface="+mn-lt"/>
                <a:cs typeface="+mn-lt"/>
              </a:rPr>
              <a:t>Neka su D i E neki detektori kvarova </a:t>
            </a: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Ako postoji algoritam T</a:t>
            </a:r>
            <a:r>
              <a:rPr lang="hr-HR" baseline="-25000" dirty="0">
                <a:ea typeface="+mn-lt"/>
                <a:cs typeface="+mn-lt"/>
              </a:rPr>
              <a:t>D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baseline="-25000">
                <a:ea typeface="+mn-lt"/>
                <a:cs typeface="+mn-lt"/>
              </a:rPr>
              <a:t>→ E </a:t>
            </a:r>
            <a:r>
              <a:rPr lang="hr-HR">
                <a:ea typeface="+mn-lt"/>
                <a:cs typeface="+mn-lt"/>
              </a:rPr>
              <a:t>koji transformira D u E, kažemo da je E slabiji od D i označavamo ga s D 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 E</a:t>
            </a:r>
          </a:p>
          <a:p>
            <a:pPr>
              <a:buClr>
                <a:srgbClr val="1287C3"/>
              </a:buClr>
            </a:pPr>
            <a:r>
              <a:rPr lang="hr-HR"/>
              <a:t>Vrijedi: </a:t>
            </a:r>
            <a:r>
              <a:rPr lang="hr-HR">
                <a:ea typeface="+mn-lt"/>
                <a:cs typeface="+mn-lt"/>
              </a:rPr>
              <a:t>P 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 dirty="0">
                <a:ea typeface="+mn-lt"/>
                <a:cs typeface="+mn-lt"/>
              </a:rPr>
              <a:t> </a:t>
            </a:r>
            <a:r>
              <a:rPr lang="hr-HR" sz="2000">
                <a:ea typeface="+mn-lt"/>
                <a:cs typeface="+mn-lt"/>
              </a:rPr>
              <a:t>𝒱</a:t>
            </a:r>
            <a:r>
              <a:rPr lang="hr-HR">
                <a:ea typeface="+mn-lt"/>
                <a:cs typeface="+mn-lt"/>
              </a:rPr>
              <a:t>, S 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W , ♦P 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♦</a:t>
            </a:r>
            <a:r>
              <a:rPr lang="hr-HR" sz="2000">
                <a:ea typeface="+mn-lt"/>
                <a:cs typeface="+mn-lt"/>
              </a:rPr>
              <a:t>𝒱 ,</a:t>
            </a:r>
            <a:r>
              <a:rPr lang="hr-HR">
                <a:ea typeface="+mn-lt"/>
                <a:cs typeface="+mn-lt"/>
              </a:rPr>
              <a:t> ♦S 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 dirty="0">
                <a:ea typeface="+mn-lt"/>
                <a:cs typeface="+mn-lt"/>
              </a:rPr>
              <a:t>♦W</a:t>
            </a:r>
          </a:p>
          <a:p>
            <a:pPr>
              <a:buClr>
                <a:srgbClr val="1287C3"/>
              </a:buClr>
            </a:pPr>
            <a:r>
              <a:rPr lang="hr-HR"/>
              <a:t>Ali može se dokazati da vrijedi i </a:t>
            </a:r>
            <a:r>
              <a:rPr lang="hr-HR" sz="2000">
                <a:ea typeface="+mn-lt"/>
                <a:cs typeface="+mn-lt"/>
              </a:rPr>
              <a:t>𝒱</a:t>
            </a:r>
            <a:r>
              <a:rPr lang="hr-HR" dirty="0">
                <a:ea typeface="+mn-lt"/>
                <a:cs typeface="+mn-lt"/>
              </a:rPr>
              <a:t> 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 P , W 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 S , ♦</a:t>
            </a:r>
            <a:r>
              <a:rPr lang="hr-HR" sz="2000">
                <a:ea typeface="+mn-lt"/>
                <a:cs typeface="+mn-lt"/>
              </a:rPr>
              <a:t>𝒱</a:t>
            </a:r>
            <a:r>
              <a:rPr lang="hr-HR" dirty="0">
                <a:ea typeface="+mn-lt"/>
                <a:cs typeface="+mn-lt"/>
              </a:rPr>
              <a:t> </a:t>
            </a:r>
            <a:r>
              <a:rPr lang="hr-HR" i="1" dirty="0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 ♦P , ♦W </a:t>
            </a:r>
            <a:r>
              <a:rPr lang="hr-HR" i="1" dirty="0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 ♦S</a:t>
            </a:r>
          </a:p>
          <a:p>
            <a:pPr>
              <a:buClr>
                <a:srgbClr val="1287C3"/>
              </a:buClr>
            </a:pPr>
            <a:r>
              <a:rPr lang="hr-HR"/>
              <a:t>Tako da na kraju imamo </a:t>
            </a:r>
            <a:r>
              <a:rPr lang="hr-HR">
                <a:ea typeface="+mn-lt"/>
                <a:cs typeface="+mn-lt"/>
              </a:rPr>
              <a:t>P ≡ </a:t>
            </a:r>
            <a:r>
              <a:rPr lang="hr-HR" sz="2000">
                <a:ea typeface="+mn-lt"/>
                <a:cs typeface="+mn-lt"/>
              </a:rPr>
              <a:t>𝒱 ,</a:t>
            </a:r>
            <a:r>
              <a:rPr lang="hr-HR">
                <a:ea typeface="+mn-lt"/>
                <a:cs typeface="+mn-lt"/>
              </a:rPr>
              <a:t> S ≡ W , ♦P ≡ ♦</a:t>
            </a:r>
            <a:r>
              <a:rPr lang="hr-HR" sz="2000">
                <a:ea typeface="+mn-lt"/>
                <a:cs typeface="+mn-lt"/>
              </a:rPr>
              <a:t>𝒱</a:t>
            </a:r>
            <a:r>
              <a:rPr lang="hr-HR">
                <a:ea typeface="+mn-lt"/>
                <a:cs typeface="+mn-lt"/>
              </a:rPr>
              <a:t> , ♦S ≡ ♦W</a:t>
            </a: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r>
              <a:rPr lang="hr-HR"/>
              <a:t>Također vrijedi i </a:t>
            </a:r>
            <a:r>
              <a:rPr lang="hr-HR">
                <a:ea typeface="+mn-lt"/>
                <a:cs typeface="+mn-lt"/>
              </a:rPr>
              <a:t>P </a:t>
            </a:r>
            <a:r>
              <a:rPr lang="hr-HR" i="1">
                <a:ea typeface="+mn-lt"/>
                <a:cs typeface="+mn-lt"/>
              </a:rPr>
              <a:t>≈</a:t>
            </a:r>
            <a:r>
              <a:rPr lang="hr-HR">
                <a:ea typeface="+mn-lt"/>
                <a:cs typeface="+mn-lt"/>
              </a:rPr>
              <a:t> S i ♦P ≈ ♦S</a:t>
            </a:r>
          </a:p>
          <a:p>
            <a:pPr>
              <a:buClr>
                <a:srgbClr val="1287C3"/>
              </a:buClr>
            </a:pPr>
            <a:endParaRPr lang="hr-HR" dirty="0"/>
          </a:p>
        </p:txBody>
      </p:sp>
      <p:cxnSp>
        <p:nvCxnSpPr>
          <p:cNvPr id="5" name="Ravni poveznik sa strelicom 4">
            <a:extLst>
              <a:ext uri="{FF2B5EF4-FFF2-40B4-BE49-F238E27FC236}">
                <a16:creationId xmlns:a16="http://schemas.microsoft.com/office/drawing/2014/main" id="{178EC928-84C6-EB96-B614-B48966578E1E}"/>
              </a:ext>
            </a:extLst>
          </p:cNvPr>
          <p:cNvCxnSpPr>
            <a:cxnSpLocks/>
          </p:cNvCxnSpPr>
          <p:nvPr/>
        </p:nvCxnSpPr>
        <p:spPr>
          <a:xfrm>
            <a:off x="4844470" y="803233"/>
            <a:ext cx="137161385" cy="1220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3283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BC3E0E9-7041-4600-2A2A-33C0056D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Reduciranje detektora</a:t>
            </a:r>
          </a:p>
        </p:txBody>
      </p:sp>
      <p:cxnSp>
        <p:nvCxnSpPr>
          <p:cNvPr id="4" name="Ravni poveznik sa strelicom 3">
            <a:extLst>
              <a:ext uri="{FF2B5EF4-FFF2-40B4-BE49-F238E27FC236}">
                <a16:creationId xmlns:a16="http://schemas.microsoft.com/office/drawing/2014/main" id="{02431606-3E17-D3AB-60CA-CAD2609E93A1}"/>
              </a:ext>
            </a:extLst>
          </p:cNvPr>
          <p:cNvCxnSpPr/>
          <p:nvPr/>
        </p:nvCxnSpPr>
        <p:spPr>
          <a:xfrm flipH="1">
            <a:off x="3496156" y="3278909"/>
            <a:ext cx="481940" cy="984513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Ravni poveznik sa strelicom 4">
            <a:extLst>
              <a:ext uri="{FF2B5EF4-FFF2-40B4-BE49-F238E27FC236}">
                <a16:creationId xmlns:a16="http://schemas.microsoft.com/office/drawing/2014/main" id="{59198A8C-86AD-6191-BDE7-752463B5534C}"/>
              </a:ext>
            </a:extLst>
          </p:cNvPr>
          <p:cNvCxnSpPr/>
          <p:nvPr/>
        </p:nvCxnSpPr>
        <p:spPr>
          <a:xfrm>
            <a:off x="4011265" y="3274654"/>
            <a:ext cx="463593" cy="981125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Ravni poveznik sa strelicom 5">
            <a:extLst>
              <a:ext uri="{FF2B5EF4-FFF2-40B4-BE49-F238E27FC236}">
                <a16:creationId xmlns:a16="http://schemas.microsoft.com/office/drawing/2014/main" id="{8370DCAA-C804-2210-C7F4-9F602408D8D4}"/>
              </a:ext>
            </a:extLst>
          </p:cNvPr>
          <p:cNvCxnSpPr>
            <a:cxnSpLocks/>
          </p:cNvCxnSpPr>
          <p:nvPr/>
        </p:nvCxnSpPr>
        <p:spPr>
          <a:xfrm flipH="1">
            <a:off x="7930269" y="3206337"/>
            <a:ext cx="481940" cy="984513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Ravni poveznik sa strelicom 6">
            <a:extLst>
              <a:ext uri="{FF2B5EF4-FFF2-40B4-BE49-F238E27FC236}">
                <a16:creationId xmlns:a16="http://schemas.microsoft.com/office/drawing/2014/main" id="{29944AF3-A40A-A352-6D09-DA6307FA2637}"/>
              </a:ext>
            </a:extLst>
          </p:cNvPr>
          <p:cNvCxnSpPr>
            <a:cxnSpLocks/>
          </p:cNvCxnSpPr>
          <p:nvPr/>
        </p:nvCxnSpPr>
        <p:spPr>
          <a:xfrm>
            <a:off x="8445378" y="3202082"/>
            <a:ext cx="463593" cy="981125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kstniOkvir 7">
            <a:extLst>
              <a:ext uri="{FF2B5EF4-FFF2-40B4-BE49-F238E27FC236}">
                <a16:creationId xmlns:a16="http://schemas.microsoft.com/office/drawing/2014/main" id="{239D7CC8-347D-2845-44B9-09195F26A002}"/>
              </a:ext>
            </a:extLst>
          </p:cNvPr>
          <p:cNvSpPr txBox="1"/>
          <p:nvPr/>
        </p:nvSpPr>
        <p:spPr>
          <a:xfrm>
            <a:off x="3890693" y="2886295"/>
            <a:ext cx="936376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hr-HR" sz="2200"/>
              <a:t>S</a:t>
            </a:r>
          </a:p>
        </p:txBody>
      </p:sp>
      <p:sp>
        <p:nvSpPr>
          <p:cNvPr id="10" name="TekstniOkvir 9">
            <a:extLst>
              <a:ext uri="{FF2B5EF4-FFF2-40B4-BE49-F238E27FC236}">
                <a16:creationId xmlns:a16="http://schemas.microsoft.com/office/drawing/2014/main" id="{91514064-3730-D3CA-C48E-3BE9852D2A74}"/>
              </a:ext>
            </a:extLst>
          </p:cNvPr>
          <p:cNvSpPr txBox="1"/>
          <p:nvPr/>
        </p:nvSpPr>
        <p:spPr>
          <a:xfrm>
            <a:off x="8166538" y="2755666"/>
            <a:ext cx="1117918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hr-HR" sz="2200"/>
              <a:t>♦S</a:t>
            </a:r>
            <a:endParaRPr lang="sr-Latn-RS"/>
          </a:p>
        </p:txBody>
      </p:sp>
      <p:sp>
        <p:nvSpPr>
          <p:cNvPr id="11" name="TekstniOkvir 10">
            <a:extLst>
              <a:ext uri="{FF2B5EF4-FFF2-40B4-BE49-F238E27FC236}">
                <a16:creationId xmlns:a16="http://schemas.microsoft.com/office/drawing/2014/main" id="{E2399141-B708-820C-F2E3-A30C969F0AF2}"/>
              </a:ext>
            </a:extLst>
          </p:cNvPr>
          <p:cNvSpPr txBox="1"/>
          <p:nvPr/>
        </p:nvSpPr>
        <p:spPr>
          <a:xfrm>
            <a:off x="3248083" y="4303553"/>
            <a:ext cx="2226282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2200"/>
              <a:t>W                P</a:t>
            </a:r>
            <a:endParaRPr lang="sr-Latn-RS" sz="2200"/>
          </a:p>
        </p:txBody>
      </p:sp>
      <p:cxnSp>
        <p:nvCxnSpPr>
          <p:cNvPr id="12" name="Ravni poveznik sa strelicom 11">
            <a:extLst>
              <a:ext uri="{FF2B5EF4-FFF2-40B4-BE49-F238E27FC236}">
                <a16:creationId xmlns:a16="http://schemas.microsoft.com/office/drawing/2014/main" id="{5B0B035B-A86C-22E3-F5B9-30229D6B27F9}"/>
              </a:ext>
            </a:extLst>
          </p:cNvPr>
          <p:cNvCxnSpPr/>
          <p:nvPr/>
        </p:nvCxnSpPr>
        <p:spPr>
          <a:xfrm>
            <a:off x="4579234" y="4805730"/>
            <a:ext cx="19109" cy="74527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avni poveznik sa strelicom 12">
            <a:extLst>
              <a:ext uri="{FF2B5EF4-FFF2-40B4-BE49-F238E27FC236}">
                <a16:creationId xmlns:a16="http://schemas.microsoft.com/office/drawing/2014/main" id="{B294B84E-974A-D6E6-D1F2-95E4BFAFBF6D}"/>
              </a:ext>
            </a:extLst>
          </p:cNvPr>
          <p:cNvCxnSpPr>
            <a:cxnSpLocks/>
          </p:cNvCxnSpPr>
          <p:nvPr/>
        </p:nvCxnSpPr>
        <p:spPr>
          <a:xfrm>
            <a:off x="8977062" y="4733158"/>
            <a:ext cx="19109" cy="74527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kstniOkvir 13">
            <a:extLst>
              <a:ext uri="{FF2B5EF4-FFF2-40B4-BE49-F238E27FC236}">
                <a16:creationId xmlns:a16="http://schemas.microsoft.com/office/drawing/2014/main" id="{52A00F23-4FC2-2732-7D99-A878A6F59034}"/>
              </a:ext>
            </a:extLst>
          </p:cNvPr>
          <p:cNvSpPr txBox="1"/>
          <p:nvPr/>
        </p:nvSpPr>
        <p:spPr>
          <a:xfrm>
            <a:off x="7595657" y="4282509"/>
            <a:ext cx="1988752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2200" dirty="0"/>
              <a:t>♦W</a:t>
            </a:r>
            <a:r>
              <a:rPr lang="hr-HR" sz="1900" dirty="0"/>
              <a:t>                 </a:t>
            </a:r>
            <a:r>
              <a:rPr lang="hr-HR" sz="2200"/>
              <a:t>♦P</a:t>
            </a:r>
            <a:endParaRPr lang="hr-HR" sz="1900"/>
          </a:p>
        </p:txBody>
      </p:sp>
      <p:sp>
        <p:nvSpPr>
          <p:cNvPr id="15" name="TekstniOkvir 14">
            <a:extLst>
              <a:ext uri="{FF2B5EF4-FFF2-40B4-BE49-F238E27FC236}">
                <a16:creationId xmlns:a16="http://schemas.microsoft.com/office/drawing/2014/main" id="{2AD47761-3A77-99F4-9057-0828FF0A01DE}"/>
              </a:ext>
            </a:extLst>
          </p:cNvPr>
          <p:cNvSpPr txBox="1"/>
          <p:nvPr/>
        </p:nvSpPr>
        <p:spPr>
          <a:xfrm>
            <a:off x="4412684" y="5672560"/>
            <a:ext cx="802608" cy="3847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hr-HR" sz="1900"/>
              <a:t>𝒱</a:t>
            </a:r>
            <a:endParaRPr lang="sr-Latn-RS"/>
          </a:p>
        </p:txBody>
      </p:sp>
      <p:sp>
        <p:nvSpPr>
          <p:cNvPr id="16" name="TekstniOkvir 15">
            <a:extLst>
              <a:ext uri="{FF2B5EF4-FFF2-40B4-BE49-F238E27FC236}">
                <a16:creationId xmlns:a16="http://schemas.microsoft.com/office/drawing/2014/main" id="{429ABD32-F04B-55E7-B6CB-6831C4A71B3F}"/>
              </a:ext>
            </a:extLst>
          </p:cNvPr>
          <p:cNvSpPr txBox="1"/>
          <p:nvPr/>
        </p:nvSpPr>
        <p:spPr>
          <a:xfrm>
            <a:off x="8725315" y="5670626"/>
            <a:ext cx="668840" cy="3847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hr-HR"/>
              <a:t>♦</a:t>
            </a:r>
            <a:r>
              <a:rPr lang="hr-HR" sz="1900"/>
              <a:t>𝒱</a:t>
            </a:r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942318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819CB99-2AB4-B3A5-B500-73B446B60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Algoritam za konsenzus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1D8EE8D-50BA-FF10-0709-DCC8B0B10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/>
              <a:t>Pošto su svi detektori reducibilni na detektore S i </a:t>
            </a:r>
            <a:r>
              <a:rPr lang="hr-HR" sz="2200"/>
              <a:t>♦S, konsenzus moramo rješiti samo za te dvije klase detektora</a:t>
            </a:r>
          </a:p>
          <a:p>
            <a:pPr>
              <a:buClr>
                <a:srgbClr val="1287C3"/>
              </a:buClr>
            </a:pPr>
            <a:r>
              <a:rPr lang="hr-HR" sz="2200">
                <a:ea typeface="+mn-lt"/>
                <a:cs typeface="+mn-lt"/>
              </a:rPr>
              <a:t>Konsenzusni algoritam koji koristi S može tolerirati bilo koji broj kvarova procesa</a:t>
            </a:r>
            <a:endParaRPr lang="hr-HR" sz="2200" dirty="0"/>
          </a:p>
          <a:p>
            <a:pPr>
              <a:buClr>
                <a:srgbClr val="1287C3"/>
              </a:buClr>
            </a:pPr>
            <a:r>
              <a:rPr lang="hr-HR" sz="2200">
                <a:ea typeface="+mn-lt"/>
                <a:cs typeface="+mn-lt"/>
              </a:rPr>
              <a:t>Konsenzusni algoritam koji koristi ♦S zahtijeva većinu procesa da budu ispravni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082438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Široki zaslon</PresentationFormat>
  <Paragraphs>0</Paragraphs>
  <Slides>16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Naslovi slajdova</vt:lpstr>
      </vt:variant>
      <vt:variant>
        <vt:i4>16</vt:i4>
      </vt:variant>
    </vt:vector>
  </HeadingPairs>
  <TitlesOfParts>
    <vt:vector size="17" baseType="lpstr">
      <vt:lpstr>Parallax</vt:lpstr>
      <vt:lpstr>Otkrivači grešaka </vt:lpstr>
      <vt:lpstr>Asinkroni distribuirani sustav</vt:lpstr>
      <vt:lpstr>Sustavi otporni na greške</vt:lpstr>
      <vt:lpstr>Konsenzus i atomsko emitiranje</vt:lpstr>
      <vt:lpstr>Sustavi otporni na greške</vt:lpstr>
      <vt:lpstr>Kvarovi</vt:lpstr>
      <vt:lpstr>Detektori kvarova</vt:lpstr>
      <vt:lpstr>Detektori kvarova</vt:lpstr>
      <vt:lpstr>Detektori kvarova</vt:lpstr>
      <vt:lpstr>Potpunost </vt:lpstr>
      <vt:lpstr>Točnost</vt:lpstr>
      <vt:lpstr>Konačna točnost</vt:lpstr>
      <vt:lpstr>Tipovi detektora</vt:lpstr>
      <vt:lpstr>Reduciranje detektora</vt:lpstr>
      <vt:lpstr>Reduciranje detektora</vt:lpstr>
      <vt:lpstr>Algoritam za konsenzus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548</cp:revision>
  <dcterms:created xsi:type="dcterms:W3CDTF">2026-05-31T15:40:15Z</dcterms:created>
  <dcterms:modified xsi:type="dcterms:W3CDTF">2026-06-29T22:11:24Z</dcterms:modified>
</cp:coreProperties>
</file>