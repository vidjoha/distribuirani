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60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</p:sldIdLst>
  <p:sldSz cx="12192000" cy="6858000"/>
  <p:notesSz cx="6858000" cy="9144000"/>
  <p:defaultTextStyle>
    <a:defPPr>
      <a:defRPr lang="sr-Latn-R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15753D1-93F3-2B3D-E99A-E7E31308B6C8}" v="664" dt="2026-06-25T21:06:35.49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46100" y="-4763"/>
            <a:ext cx="5014912" cy="6862763"/>
            <a:chOff x="2928938" y="-4763"/>
            <a:chExt cx="5014912" cy="6862763"/>
          </a:xfrm>
        </p:grpSpPr>
        <p:sp>
          <p:nvSpPr>
            <p:cNvPr id="22" name="Freeform 6"/>
            <p:cNvSpPr/>
            <p:nvPr/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Freeform 7"/>
            <p:cNvSpPr/>
            <p:nvPr/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24" name="Freeform 9"/>
            <p:cNvSpPr/>
            <p:nvPr/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5" name="Freeform 10"/>
            <p:cNvSpPr/>
            <p:nvPr/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6" name="Freeform 11"/>
            <p:cNvSpPr/>
            <p:nvPr/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7" name="Freeform 12"/>
            <p:cNvSpPr/>
            <p:nvPr/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28401" y="1380068"/>
            <a:ext cx="8574622" cy="2616199"/>
          </a:xfrm>
        </p:spPr>
        <p:txBody>
          <a:bodyPr anchor="b">
            <a:normAutofit/>
          </a:bodyPr>
          <a:lstStyle>
            <a:lvl1pPr algn="r">
              <a:defRPr sz="6000">
                <a:effectLst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15377" y="3996267"/>
            <a:ext cx="6987645" cy="1388534"/>
          </a:xfrm>
        </p:spPr>
        <p:txBody>
          <a:bodyPr anchor="t">
            <a:normAutofit/>
          </a:bodyPr>
          <a:lstStyle>
            <a:lvl1pPr marL="0" indent="0" algn="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32412" y="5883275"/>
            <a:ext cx="4324044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27050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51856" y="5867131"/>
            <a:ext cx="5511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58333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2279" y="2666999"/>
            <a:ext cx="8930747" cy="2110382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2278" y="4777381"/>
            <a:ext cx="8930748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37505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312" y="2666999"/>
            <a:ext cx="4895055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07967" y="2667000"/>
            <a:ext cx="4895056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80818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2179" y="2658533"/>
            <a:ext cx="4607188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4311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80487" y="2667000"/>
            <a:ext cx="462253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7967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96879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6004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13051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1600200"/>
            <a:ext cx="3549121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62033" y="685799"/>
            <a:ext cx="6240990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2" y="2971800"/>
            <a:ext cx="3549121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2245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724" y="1752599"/>
            <a:ext cx="5426158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94682" y="914400"/>
            <a:ext cx="3280974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724" y="3124199"/>
            <a:ext cx="5426158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451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4732865"/>
            <a:ext cx="1001871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860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1" y="5299603"/>
            <a:ext cx="1001871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3785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685800"/>
            <a:ext cx="1001871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343400"/>
            <a:ext cx="10018713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71622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36811" y="3428999"/>
            <a:ext cx="8532815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34589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3308581"/>
            <a:ext cx="1001870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7381"/>
            <a:ext cx="1001871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59196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3" y="3886200"/>
            <a:ext cx="1001871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5200"/>
            <a:ext cx="1001871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917891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685800"/>
            <a:ext cx="10018712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2" y="3505200"/>
            <a:ext cx="10018713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3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39423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0708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732655" y="685800"/>
            <a:ext cx="1770369" cy="5105400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312" y="685800"/>
            <a:ext cx="8019742" cy="5105400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87152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0" y="2666999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6/25/2026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9779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r-HR"/>
              <a:t>Otkrivači grešaka </a:t>
            </a:r>
            <a:endParaRPr lang="hr-HR" dirty="0"/>
          </a:p>
        </p:txBody>
      </p:sp>
      <p:sp>
        <p:nvSpPr>
          <p:cNvPr id="3" name="Podnaslov 2"/>
          <p:cNvSpPr>
            <a:spLocks noGrp="1"/>
          </p:cNvSpPr>
          <p:nvPr>
            <p:ph type="subTitle" idx="1"/>
          </p:nvPr>
        </p:nvSpPr>
        <p:spPr>
          <a:xfrm>
            <a:off x="5043697" y="3996267"/>
            <a:ext cx="6987645" cy="1388534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hr-HR"/>
              <a:t>Bartol Gracin, Vid Joha , Matija Njegač</a:t>
            </a:r>
            <a:endParaRPr lang="sr-Latn-RS"/>
          </a:p>
        </p:txBody>
      </p:sp>
    </p:spTree>
    <p:extLst>
      <p:ext uri="{BB962C8B-B14F-4D97-AF65-F5344CB8AC3E}">
        <p14:creationId xmlns:p14="http://schemas.microsoft.com/office/powerpoint/2010/main" val="4147140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8D5C12DD-7AC1-22BB-CCE3-6F40669EC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>
                <a:latin typeface="Aptos Display"/>
              </a:rPr>
              <a:t>Asinkroni distribuirani sustav</a:t>
            </a:r>
            <a:endParaRPr lang="sr-Latn-RS"/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623305D8-5656-0600-1813-5671FBDC7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r-HR"/>
              <a:t>Sustav u kojem proces nema gornje vremenske granice</a:t>
            </a:r>
            <a:r>
              <a:rPr lang="hr-HR">
                <a:latin typeface="Aptos"/>
              </a:rPr>
              <a:t> za izvršavanje koraka izračuna ili za slanje poruke </a:t>
            </a:r>
            <a:endParaRPr lang="sr-Latn-RS"/>
          </a:p>
          <a:p>
            <a:r>
              <a:rPr lang="hr-HR">
                <a:latin typeface="Aptos"/>
              </a:rPr>
              <a:t>U asinkronom distribuiranom sustavu ne postoji gornja granica relativnih brzina procesora, vremena izvršavanja, pomaka satova i kašnjenja tijekom prijenosa poruka, ali su konačne</a:t>
            </a:r>
          </a:p>
          <a:p>
            <a:r>
              <a:rPr lang="hr-HR">
                <a:latin typeface="Aptos"/>
              </a:rPr>
              <a:t>To je uglavnom uzrokovano nepredvidivim opterećenjima sustava</a:t>
            </a:r>
            <a:endParaRPr lang="hr-HR" dirty="0"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949509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E3A31275-5118-1F94-819A-67A50EEE6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Sustavi otporni na greške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8CA8F116-3823-6A1A-18B3-31A6C7217C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r-HR"/>
              <a:t>Tolerancija pogrešaka je sposobnost sustava da se nosi s greškama bez ikakve degradacije ili zastoja</a:t>
            </a:r>
            <a:endParaRPr lang="hr-HR" dirty="0"/>
          </a:p>
          <a:p>
            <a:r>
              <a:rPr lang="hr-HR">
                <a:latin typeface="Aptos"/>
              </a:rPr>
              <a:t>Sustavi otporni na greške maskiraju pogreške i održavaju nesmetan rad u prisutnosti jedne ili više neispravnih komponenti</a:t>
            </a:r>
            <a:endParaRPr lang="hr-HR" dirty="0">
              <a:latin typeface="Aptos"/>
            </a:endParaRPr>
          </a:p>
          <a:p>
            <a:r>
              <a:rPr lang="hr-HR"/>
              <a:t>U slučaju pogreške, krajnji korisnici ostaju nesvjesni ikakvih problema</a:t>
            </a:r>
          </a:p>
          <a:p>
            <a:r>
              <a:rPr lang="hr-HR">
                <a:latin typeface="Aptos" panose="020B0004020202020204"/>
              </a:rPr>
              <a:t>Dvije najvažnije paradigme u dizajnu distribuiranih sustava otpornih na greške su konsenzus i atomsko emitiranje</a:t>
            </a:r>
            <a:endParaRPr lang="hr-HR" dirty="0">
              <a:latin typeface="Aptos" panose="020B0004020202020204"/>
            </a:endParaRPr>
          </a:p>
          <a:p>
            <a:pPr marL="0" indent="0">
              <a:buNone/>
            </a:pPr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8976456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26BB7016-581D-0FA0-4976-033E619E34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r-HR">
                <a:latin typeface="Aptos Display"/>
              </a:rPr>
              <a:t>Konsenzus i atomsko emitiranje</a:t>
            </a:r>
            <a:endParaRPr lang="sr-Latn-RS"/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6E9AF276-B655-4023-3905-14EA7156FA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83640" y="2435225"/>
            <a:ext cx="5181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hr-HR" sz="2400"/>
              <a:t>Konsenzus</a:t>
            </a:r>
          </a:p>
          <a:p>
            <a:pPr marL="0" indent="0">
              <a:buNone/>
            </a:pPr>
            <a:r>
              <a:rPr lang="hr-HR" sz="2400" dirty="0">
                <a:ea typeface="+mn-lt"/>
                <a:cs typeface="+mn-lt"/>
              </a:rPr>
              <a:t>Konsenzus omogućuje skupu procesa da postigne zajedničku </a:t>
            </a:r>
            <a:r>
              <a:rPr lang="hr-HR" sz="2400">
                <a:ea typeface="+mn-lt"/>
                <a:cs typeface="+mn-lt"/>
              </a:rPr>
              <a:t>odluku ili vrijednost </a:t>
            </a:r>
            <a:endParaRPr lang="hr-HR" sz="2400" dirty="0">
              <a:ea typeface="+mn-lt"/>
              <a:cs typeface="+mn-lt"/>
            </a:endParaRPr>
          </a:p>
          <a:p>
            <a:pPr marL="0" indent="0">
              <a:buNone/>
            </a:pPr>
            <a:r>
              <a:rPr lang="hr-HR" sz="2400">
                <a:ea typeface="+mn-lt"/>
                <a:cs typeface="+mn-lt"/>
              </a:rPr>
              <a:t>Ona ovisi o </a:t>
            </a:r>
            <a:r>
              <a:rPr lang="hr-HR" sz="2400" dirty="0">
                <a:ea typeface="+mn-lt"/>
                <a:cs typeface="+mn-lt"/>
              </a:rPr>
              <a:t>početnim vrijednostima u procesima, bez obzira na neuspjehe</a:t>
            </a:r>
            <a:endParaRPr lang="hr-HR" sz="2400"/>
          </a:p>
          <a:p>
            <a:pPr marL="0" indent="0">
              <a:buNone/>
            </a:pPr>
            <a:endParaRPr lang="hr-HR" dirty="0"/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E181ACC6-D77D-1D9A-BB0D-BD680CCE7A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07967" y="2423160"/>
            <a:ext cx="4895056" cy="312420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hr-HR" sz="2400"/>
              <a:t>Atomsko emitiranje</a:t>
            </a:r>
          </a:p>
          <a:p>
            <a:pPr marL="0" indent="0">
              <a:buNone/>
            </a:pPr>
            <a:r>
              <a:rPr lang="hr-HR" sz="2400" dirty="0">
                <a:ea typeface="+mn-lt"/>
                <a:cs typeface="+mn-lt"/>
              </a:rPr>
              <a:t>U atomskom emitiranju, procesi pouzdano emitiraju </a:t>
            </a:r>
            <a:r>
              <a:rPr lang="hr-HR" sz="2400">
                <a:ea typeface="+mn-lt"/>
                <a:cs typeface="+mn-lt"/>
              </a:rPr>
              <a:t>poruke</a:t>
            </a:r>
            <a:endParaRPr lang="hr-HR" sz="2400" dirty="0">
              <a:ea typeface="+mn-lt"/>
              <a:cs typeface="+mn-lt"/>
            </a:endParaRPr>
          </a:p>
          <a:p>
            <a:pPr marL="0" indent="0">
              <a:buNone/>
            </a:pPr>
            <a:r>
              <a:rPr lang="hr-HR" sz="2400">
                <a:ea typeface="+mn-lt"/>
                <a:cs typeface="+mn-lt"/>
              </a:rPr>
              <a:t>Slažu se oko skupa isporučenih </a:t>
            </a:r>
            <a:r>
              <a:rPr lang="hr-HR" sz="2400" dirty="0">
                <a:ea typeface="+mn-lt"/>
                <a:cs typeface="+mn-lt"/>
              </a:rPr>
              <a:t>poruka i redoslijeda isporuke poruka</a:t>
            </a:r>
            <a:endParaRPr lang="hr-HR" sz="2400"/>
          </a:p>
        </p:txBody>
      </p:sp>
      <p:cxnSp>
        <p:nvCxnSpPr>
          <p:cNvPr id="6" name="Ravni poveznik sa strelicom 5">
            <a:extLst>
              <a:ext uri="{FF2B5EF4-FFF2-40B4-BE49-F238E27FC236}">
                <a16:creationId xmlns:a16="http://schemas.microsoft.com/office/drawing/2014/main" id="{51E20F7E-EADA-3681-6A1C-8E4C1C632BDE}"/>
              </a:ext>
            </a:extLst>
          </p:cNvPr>
          <p:cNvCxnSpPr/>
          <p:nvPr/>
        </p:nvCxnSpPr>
        <p:spPr>
          <a:xfrm flipH="1">
            <a:off x="6371243" y="1840807"/>
            <a:ext cx="13854" cy="4932218"/>
          </a:xfrm>
          <a:prstGeom prst="straightConnector1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5192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9699585F-C94E-EC5C-7120-F79999D32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Sustavi otporni na greške</a:t>
            </a:r>
            <a:endParaRPr lang="sr-Latn-RS"/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3D8A6EC3-A101-FB8E-759B-50424C7BB0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r-HR">
                <a:ea typeface="+mn-lt"/>
                <a:cs typeface="+mn-lt"/>
              </a:rPr>
              <a:t>Otkrivanje kvarova procesa je ključan zadatak u dizajnu distribuiranih sustava otpornih na kvarove</a:t>
            </a:r>
          </a:p>
          <a:p>
            <a:r>
              <a:rPr lang="hr-HR">
                <a:ea typeface="+mn-lt"/>
                <a:cs typeface="+mn-lt"/>
              </a:rPr>
              <a:t>Otkrivanje srušenih procesa posebno je teško u asinkronim sustavima jer je nemoguće utvrditi je li se proces stvarno srušio ili je vrlo spor</a:t>
            </a:r>
          </a:p>
          <a:p>
            <a:r>
              <a:rPr lang="hr-HR"/>
              <a:t>Zbog tog razloga je moguće dizajnirati samo </a:t>
            </a:r>
            <a:r>
              <a:rPr lang="hr-HR">
                <a:latin typeface="Aptos" panose="020B0004020202020204"/>
              </a:rPr>
              <a:t>nepouzdane detektore kvarova</a:t>
            </a:r>
            <a:endParaRPr lang="hr-HR" dirty="0">
              <a:latin typeface="Aptos" panose="020B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6360214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8331E8F9-4D24-0735-2EF5-2846F43B1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Kvarovi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B104A975-D748-5A23-0201-6F6254F7E3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r-HR"/>
              <a:t>Kažemo da se proces π ruši u trenutku t ako π ne izvrši nikakvu akciju nakon vremena t</a:t>
            </a:r>
          </a:p>
          <a:p>
            <a:r>
              <a:rPr lang="hr-HR"/>
              <a:t>Jednom kad se proces sruši ne može se ponovno pokrenuti</a:t>
            </a:r>
          </a:p>
          <a:p>
            <a:r>
              <a:rPr lang="hr-HR">
                <a:ea typeface="+mn-lt"/>
                <a:cs typeface="+mn-lt"/>
              </a:rPr>
              <a:t>Crashed(t, Ω) je skup svih procesa koji su se srušili do trenutka t u hodu Ω, dok je  Up(t,Ω) skup onih koji se nisu srušili do trenutka t</a:t>
            </a:r>
          </a:p>
          <a:p>
            <a:pPr>
              <a:buClr>
                <a:srgbClr val="1287C3"/>
              </a:buClr>
            </a:pPr>
            <a:r>
              <a:rPr lang="hr-HR">
                <a:ea typeface="+mn-lt"/>
                <a:cs typeface="+mn-lt"/>
              </a:rPr>
              <a:t>Up(t,Ω ) = Q − Crashed(t,Ω )</a:t>
            </a:r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1336469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72C4427C-ED8B-7BAD-45CE-9BD50DFE11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Detektori kvarova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288663DE-13DB-1305-4460-2330288076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>
                <a:latin typeface="Corbel"/>
              </a:rPr>
              <a:t>Detektor kvarova D je distribuirani orakl koji daje naznake o kvarovima</a:t>
            </a:r>
            <a:endParaRPr lang="sr-Latn-RS"/>
          </a:p>
          <a:p>
            <a:pPr>
              <a:buClr>
                <a:srgbClr val="1287C3"/>
              </a:buClr>
            </a:pPr>
            <a:r>
              <a:rPr lang="hr-HR">
                <a:latin typeface="Corbel"/>
              </a:rPr>
              <a:t>Svaki proces pi u distribuiranom okruženju ima svoj lokalni detektor kvarova D</a:t>
            </a:r>
            <a:r>
              <a:rPr lang="hr-HR" baseline="-25000">
                <a:latin typeface="Corbel"/>
              </a:rPr>
              <a:t>i</a:t>
            </a:r>
            <a:r>
              <a:rPr lang="hr-HR">
                <a:latin typeface="Corbel"/>
              </a:rPr>
              <a:t>, koji prati sve ostale procese i održava popis procesa za koje p</a:t>
            </a:r>
            <a:r>
              <a:rPr lang="hr-HR" baseline="-25000">
                <a:latin typeface="Corbel"/>
              </a:rPr>
              <a:t>i</a:t>
            </a:r>
            <a:r>
              <a:rPr lang="hr-HR">
                <a:latin typeface="Corbel"/>
              </a:rPr>
              <a:t> trenutno sumnja da su se srušili</a:t>
            </a:r>
          </a:p>
          <a:p>
            <a:pPr>
              <a:buClr>
                <a:srgbClr val="1287C3"/>
              </a:buClr>
            </a:pPr>
            <a:r>
              <a:rPr lang="hr-HR">
                <a:latin typeface="Corbel"/>
              </a:rPr>
              <a:t>Sumnja se temelji na duljini vremena za koje pi nije dobio poruku od drugih procesa </a:t>
            </a:r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7342910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3B3961BB-703A-BE3A-A277-686CCCFA2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Detektori kvarova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2BDCD600-789C-5916-9F59-C9020E845A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>
                <a:ea typeface="+mn-lt"/>
                <a:cs typeface="+mn-lt"/>
              </a:rPr>
              <a:t>Detektor kvarova D = &lt;D</a:t>
            </a:r>
            <a:r>
              <a:rPr lang="hr-HR" baseline="-25000">
                <a:ea typeface="+mn-lt"/>
                <a:cs typeface="+mn-lt"/>
              </a:rPr>
              <a:t>p1</a:t>
            </a:r>
            <a:r>
              <a:rPr lang="hr-HR">
                <a:ea typeface="+mn-lt"/>
                <a:cs typeface="+mn-lt"/>
              </a:rPr>
              <a:t>, D</a:t>
            </a:r>
            <a:r>
              <a:rPr lang="hr-HR" baseline="-25000">
                <a:ea typeface="+mn-lt"/>
                <a:cs typeface="+mn-lt"/>
              </a:rPr>
              <a:t>p2</a:t>
            </a:r>
            <a:r>
              <a:rPr lang="hr-HR">
                <a:ea typeface="+mn-lt"/>
                <a:cs typeface="+mn-lt"/>
              </a:rPr>
              <a:t>,…, D</a:t>
            </a:r>
            <a:r>
              <a:rPr lang="hr-HR" baseline="-25000">
                <a:ea typeface="+mn-lt"/>
                <a:cs typeface="+mn-lt"/>
              </a:rPr>
              <a:t>pn</a:t>
            </a:r>
            <a:r>
              <a:rPr lang="hr-HR">
                <a:ea typeface="+mn-lt"/>
                <a:cs typeface="+mn-lt"/>
              </a:rPr>
              <a:t>&gt; gdje je D</a:t>
            </a:r>
            <a:r>
              <a:rPr lang="hr-HR" baseline="-25000">
                <a:ea typeface="+mn-lt"/>
                <a:cs typeface="+mn-lt"/>
              </a:rPr>
              <a:t>i</a:t>
            </a:r>
            <a:r>
              <a:rPr lang="hr-HR">
                <a:ea typeface="+mn-lt"/>
                <a:cs typeface="+mn-lt"/>
              </a:rPr>
              <a:t> detektor kvarova za proces p</a:t>
            </a:r>
            <a:r>
              <a:rPr lang="hr-HR" baseline="-25000">
                <a:ea typeface="+mn-lt"/>
                <a:cs typeface="+mn-lt"/>
              </a:rPr>
              <a:t>i</a:t>
            </a:r>
          </a:p>
          <a:p>
            <a:pPr>
              <a:buClr>
                <a:srgbClr val="1287C3"/>
              </a:buClr>
            </a:pPr>
            <a:r>
              <a:rPr lang="hr-HR"/>
              <a:t>D</a:t>
            </a:r>
            <a:r>
              <a:rPr lang="hr-HR" baseline="-25000"/>
              <a:t>p</a:t>
            </a:r>
            <a:r>
              <a:rPr lang="hr-HR"/>
              <a:t>(t, Ω) je skup svih procesa za koje p sumnja da su se srušili do trenutka t</a:t>
            </a:r>
          </a:p>
        </p:txBody>
      </p:sp>
    </p:spTree>
    <p:extLst>
      <p:ext uri="{BB962C8B-B14F-4D97-AF65-F5344CB8AC3E}">
        <p14:creationId xmlns:p14="http://schemas.microsoft.com/office/powerpoint/2010/main" val="34733975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7FC834BB-49DD-3AE6-954B-AC96C474B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Detektori kvarova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70E53F3E-027F-0429-F857-35820FA783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>
                <a:ea typeface="+mn-lt"/>
                <a:cs typeface="+mn-lt"/>
              </a:rPr>
              <a:t>Detektori kvarova mogu pogriješiti, tj. ispravan proces može biti dodan na popis srušenih, a kasnije uklonjen ako detektor kvarova shvati da je došlo do pogreške</a:t>
            </a:r>
          </a:p>
          <a:p>
            <a:pPr>
              <a:buClr>
                <a:srgbClr val="1287C3"/>
              </a:buClr>
            </a:pPr>
            <a:r>
              <a:rPr lang="hr-HR"/>
              <a:t>Imamo 2 svojstva, potpunost i točnost</a:t>
            </a:r>
          </a:p>
          <a:p>
            <a:pPr>
              <a:buClr>
                <a:srgbClr val="1287C3"/>
              </a:buClr>
            </a:pPr>
            <a:r>
              <a:rPr lang="hr-HR"/>
              <a:t>Potpunost zahtjeva da detektor nakon nekog vremena sumnja na sve procese koji su se srušili</a:t>
            </a:r>
          </a:p>
          <a:p>
            <a:pPr>
              <a:buClr>
                <a:srgbClr val="1287C3"/>
              </a:buClr>
            </a:pPr>
            <a:r>
              <a:rPr lang="hr-HR"/>
              <a:t>Točnost ograničava detektore da sumnjaju na ispravne procese</a:t>
            </a:r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1137655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8F718D80-197E-B7ED-58B1-6D00B28B1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Potpunost 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71B4E35C-5EDA-625D-9829-17706258C8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/>
              <a:t>Jaka potpunost: </a:t>
            </a:r>
            <a:r>
              <a:rPr lang="hr-HR">
                <a:latin typeface="Corbel"/>
              </a:rPr>
              <a:t>Naposljetku, svaki proces koji se srušio postaje trajno sumnjiv </a:t>
            </a:r>
            <a:r>
              <a:rPr lang="hr-HR" u="sng">
                <a:latin typeface="Corbel"/>
              </a:rPr>
              <a:t>svakom</a:t>
            </a:r>
            <a:r>
              <a:rPr lang="hr-HR">
                <a:latin typeface="Corbel"/>
              </a:rPr>
              <a:t> ispravnom procesu</a:t>
            </a:r>
          </a:p>
          <a:p>
            <a:pPr>
              <a:buClr>
                <a:srgbClr val="1287C3"/>
              </a:buClr>
            </a:pPr>
            <a:endParaRPr lang="hr-HR" dirty="0">
              <a:latin typeface="Corbel"/>
              <a:ea typeface="+mn-lt"/>
              <a:cs typeface="+mn-lt"/>
            </a:endParaRPr>
          </a:p>
          <a:p>
            <a:pPr marL="0" indent="0">
              <a:buClr>
                <a:srgbClr val="1287C3"/>
              </a:buClr>
              <a:buNone/>
            </a:pPr>
            <a:endParaRPr lang="hr-HR" dirty="0">
              <a:latin typeface="Corbel"/>
              <a:ea typeface="+mn-lt"/>
              <a:cs typeface="+mn-lt"/>
            </a:endParaRPr>
          </a:p>
          <a:p>
            <a:pPr>
              <a:buClr>
                <a:srgbClr val="1287C3"/>
              </a:buClr>
            </a:pPr>
            <a:r>
              <a:rPr lang="hr-HR">
                <a:latin typeface="Corbel"/>
                <a:ea typeface="+mn-lt"/>
                <a:cs typeface="+mn-lt"/>
              </a:rPr>
              <a:t>Slaba potpunost: Naposljetku, svaki proces koji se srušio postaje trajno sumnjiv </a:t>
            </a:r>
            <a:r>
              <a:rPr lang="hr-HR" u="sng">
                <a:latin typeface="Corbel"/>
                <a:ea typeface="+mn-lt"/>
                <a:cs typeface="+mn-lt"/>
              </a:rPr>
              <a:t>nekom</a:t>
            </a:r>
            <a:r>
              <a:rPr lang="hr-HR">
                <a:latin typeface="Corbel"/>
                <a:ea typeface="+mn-lt"/>
                <a:cs typeface="+mn-lt"/>
              </a:rPr>
              <a:t> ispravnom procesu</a:t>
            </a:r>
          </a:p>
        </p:txBody>
      </p:sp>
      <p:pic>
        <p:nvPicPr>
          <p:cNvPr id="4" name="Slika 3" descr="Slika na kojoj se prikazuje tekst, snimka zaslona, softver, Multimedijski softver&#10;&#10;Sadržaj generiran uz AI možda nije točan.">
            <a:extLst>
              <a:ext uri="{FF2B5EF4-FFF2-40B4-BE49-F238E27FC236}">
                <a16:creationId xmlns:a16="http://schemas.microsoft.com/office/drawing/2014/main" id="{D1BE1460-8CC7-F84C-EFE1-09384EF53FF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714" t="67802" r="18452" b="27912"/>
          <a:stretch>
            <a:fillRect/>
          </a:stretch>
        </p:blipFill>
        <p:spPr>
          <a:xfrm>
            <a:off x="1821543" y="3806372"/>
            <a:ext cx="6451621" cy="420927"/>
          </a:xfrm>
          <a:prstGeom prst="rect">
            <a:avLst/>
          </a:prstGeom>
        </p:spPr>
      </p:pic>
      <p:pic>
        <p:nvPicPr>
          <p:cNvPr id="5" name="Slika 4" descr="Slika na kojoj se prikazuje tekst, snimka zaslona, softver, Multimedijski softver&#10;&#10;Sadržaj generiran uz AI možda nije točan.">
            <a:extLst>
              <a:ext uri="{FF2B5EF4-FFF2-40B4-BE49-F238E27FC236}">
                <a16:creationId xmlns:a16="http://schemas.microsoft.com/office/drawing/2014/main" id="{BE50AFBC-C907-98C5-82CA-D23B343D97D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536" t="80989" r="18333" b="14020"/>
          <a:stretch>
            <a:fillRect/>
          </a:stretch>
        </p:blipFill>
        <p:spPr>
          <a:xfrm>
            <a:off x="1821543" y="5656943"/>
            <a:ext cx="6451607" cy="474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6373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9ABF94AD-7929-55B7-CF45-F955007B1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Točnost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1ED751E5-909B-6AA9-9B9C-58AE11DD71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/>
              <a:t>Jaka točnost: </a:t>
            </a:r>
            <a:r>
              <a:rPr lang="hr-HR">
                <a:ea typeface="+mn-lt"/>
                <a:cs typeface="+mn-lt"/>
              </a:rPr>
              <a:t>Ispravni procesi nikada nisu sumnjivi nijednom ispravnom procesu</a:t>
            </a:r>
            <a:endParaRPr lang="hr-HR" dirty="0">
              <a:ea typeface="+mn-lt"/>
              <a:cs typeface="+mn-lt"/>
            </a:endParaRPr>
          </a:p>
          <a:p>
            <a:pPr>
              <a:buClr>
                <a:srgbClr val="1287C3"/>
              </a:buClr>
            </a:pPr>
            <a:endParaRPr lang="hr-HR" dirty="0">
              <a:ea typeface="+mn-lt"/>
              <a:cs typeface="+mn-lt"/>
            </a:endParaRPr>
          </a:p>
          <a:p>
            <a:pPr>
              <a:buClr>
                <a:srgbClr val="1287C3"/>
              </a:buClr>
            </a:pPr>
            <a:r>
              <a:rPr lang="hr-HR">
                <a:ea typeface="+mn-lt"/>
                <a:cs typeface="+mn-lt"/>
              </a:rPr>
              <a:t>Slaba točnost: Neki ispravan proces nikad nije sumnjiv nijednom ispravnom procesu</a:t>
            </a:r>
          </a:p>
          <a:p>
            <a:pPr>
              <a:buClr>
                <a:srgbClr val="1287C3"/>
              </a:buClr>
            </a:pPr>
            <a:endParaRPr lang="hr-HR" dirty="0">
              <a:ea typeface="+mn-lt"/>
              <a:cs typeface="+mn-lt"/>
            </a:endParaRPr>
          </a:p>
          <a:p>
            <a:pPr>
              <a:buClr>
                <a:srgbClr val="1287C3"/>
              </a:buClr>
            </a:pPr>
            <a:endParaRPr lang="hr-HR" dirty="0">
              <a:ea typeface="+mn-lt"/>
              <a:cs typeface="+mn-lt"/>
            </a:endParaRPr>
          </a:p>
        </p:txBody>
      </p:sp>
      <p:pic>
        <p:nvPicPr>
          <p:cNvPr id="4" name="Slika 3" descr="Slika na kojoj se prikazuje tekst, snimka zaslona, softver, Multimedijski softver&#10;&#10;Sadržaj generiran uz AI možda nije točan.">
            <a:extLst>
              <a:ext uri="{FF2B5EF4-FFF2-40B4-BE49-F238E27FC236}">
                <a16:creationId xmlns:a16="http://schemas.microsoft.com/office/drawing/2014/main" id="{F982BF18-BC41-30B5-1412-C56989043F4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690" t="59011" r="24702" b="37143"/>
          <a:stretch>
            <a:fillRect/>
          </a:stretch>
        </p:blipFill>
        <p:spPr>
          <a:xfrm>
            <a:off x="1814286" y="3408992"/>
            <a:ext cx="4949389" cy="442752"/>
          </a:xfrm>
          <a:prstGeom prst="rect">
            <a:avLst/>
          </a:prstGeom>
        </p:spPr>
      </p:pic>
      <p:pic>
        <p:nvPicPr>
          <p:cNvPr id="5" name="Slika 4" descr="Slika na kojoj se prikazuje tekst, snimka zaslona, softver, Multimedijski softver&#10;&#10;Sadržaj generiran uz AI možda nije točan.">
            <a:extLst>
              <a:ext uri="{FF2B5EF4-FFF2-40B4-BE49-F238E27FC236}">
                <a16:creationId xmlns:a16="http://schemas.microsoft.com/office/drawing/2014/main" id="{9A7805E1-1CE3-A7AB-E6E9-741C7BE4CE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1071" t="80000" r="23274" b="15494"/>
          <a:stretch>
            <a:fillRect/>
          </a:stretch>
        </p:blipFill>
        <p:spPr>
          <a:xfrm>
            <a:off x="1814286" y="4967514"/>
            <a:ext cx="4949385" cy="471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10864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0A499B02-0A68-A005-EA7F-6CEF49519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4311" y="257629"/>
            <a:ext cx="10018713" cy="1752599"/>
          </a:xfrm>
        </p:spPr>
        <p:txBody>
          <a:bodyPr/>
          <a:lstStyle/>
          <a:p>
            <a:r>
              <a:rPr lang="hr-HR"/>
              <a:t>Konačna točnost</a:t>
            </a:r>
            <a:endParaRPr lang="hr-HR" dirty="0"/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22D95497-7763-0263-435D-CA9B5C00A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4310" y="1716313"/>
            <a:ext cx="10018713" cy="5040086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  <a:spcBef>
                <a:spcPts val="20"/>
              </a:spcBef>
            </a:pPr>
            <a:r>
              <a:rPr lang="hr-HR"/>
              <a:t>Čak je i slabu točnost teško postići, jer detektor (čak i pri ispravnom procesu) može posumnjati na ispravan proces, a zatim kasnije ispraviti svoju pogrešku</a:t>
            </a:r>
            <a:endParaRPr lang="sr-Latn-RS"/>
          </a:p>
          <a:p>
            <a:pPr>
              <a:lnSpc>
                <a:spcPct val="80000"/>
              </a:lnSpc>
              <a:spcBef>
                <a:spcPts val="20"/>
              </a:spcBef>
              <a:buClr>
                <a:srgbClr val="1287C3"/>
              </a:buClr>
            </a:pPr>
            <a:r>
              <a:rPr lang="hr-HR"/>
              <a:t>Svojstvo slabe točnosti to ne dopušta, stoga dodatno oslabljujemo zahtjev točnosti i dopuštamo detektore kvarova koji mogu posumnjati na ispravan proces u nekim točkama tijekom izvođenja, ali na kraju zadovoljavaju svojstva jake i slabe točnosti</a:t>
            </a:r>
          </a:p>
          <a:p>
            <a:pPr>
              <a:lnSpc>
                <a:spcPct val="80000"/>
              </a:lnSpc>
              <a:spcBef>
                <a:spcPts val="20"/>
              </a:spcBef>
              <a:buClr>
                <a:srgbClr val="1287C3"/>
              </a:buClr>
            </a:pPr>
            <a:endParaRPr lang="hr-HR" dirty="0"/>
          </a:p>
          <a:p>
            <a:pPr>
              <a:lnSpc>
                <a:spcPct val="80000"/>
              </a:lnSpc>
              <a:spcBef>
                <a:spcPts val="20"/>
              </a:spcBef>
              <a:buClr>
                <a:srgbClr val="1287C3"/>
              </a:buClr>
            </a:pPr>
            <a:r>
              <a:rPr lang="hr-HR">
                <a:ea typeface="+mn-lt"/>
                <a:cs typeface="+mn-lt"/>
              </a:rPr>
              <a:t>Konačna jaka točnost: Postoji vrijeme nakon kojeg ispravni procesi više nisu sumnjivi nijedanom ispravanom procesu</a:t>
            </a:r>
            <a:endParaRPr lang="hr-HR" dirty="0">
              <a:ea typeface="+mn-lt"/>
              <a:cs typeface="+mn-lt"/>
            </a:endParaRPr>
          </a:p>
          <a:p>
            <a:pPr>
              <a:lnSpc>
                <a:spcPct val="80000"/>
              </a:lnSpc>
              <a:spcBef>
                <a:spcPts val="20"/>
              </a:spcBef>
              <a:buClr>
                <a:srgbClr val="1287C3"/>
              </a:buClr>
            </a:pPr>
            <a:endParaRPr lang="hr-HR" dirty="0"/>
          </a:p>
          <a:p>
            <a:pPr>
              <a:lnSpc>
                <a:spcPct val="80000"/>
              </a:lnSpc>
              <a:spcBef>
                <a:spcPts val="20"/>
              </a:spcBef>
              <a:buClr>
                <a:srgbClr val="1287C3"/>
              </a:buClr>
            </a:pPr>
            <a:r>
              <a:rPr lang="hr-HR"/>
              <a:t>Konačna slaba točnost: </a:t>
            </a:r>
            <a:r>
              <a:rPr lang="hr-HR">
                <a:ea typeface="+mn-lt"/>
                <a:cs typeface="+mn-lt"/>
              </a:rPr>
              <a:t>Postoji vrijeme nakon kojeg neki ispravan proces više nije sumnjiv nijednom ispravnom procesu</a:t>
            </a:r>
            <a:endParaRPr lang="hr-HR" dirty="0"/>
          </a:p>
          <a:p>
            <a:pPr>
              <a:lnSpc>
                <a:spcPct val="80000"/>
              </a:lnSpc>
              <a:spcBef>
                <a:spcPts val="20"/>
              </a:spcBef>
              <a:buClr>
                <a:srgbClr val="1287C3"/>
              </a:buClr>
            </a:pPr>
            <a:endParaRPr lang="hr-HR" dirty="0"/>
          </a:p>
        </p:txBody>
      </p:sp>
      <p:pic>
        <p:nvPicPr>
          <p:cNvPr id="4" name="Slika 3" descr="Slika na kojoj se prikazuje tekst, snimka zaslona, softver, Multimedijski softver&#10;&#10;Sadržaj generiran uz AI možda nije točan.">
            <a:extLst>
              <a:ext uri="{FF2B5EF4-FFF2-40B4-BE49-F238E27FC236}">
                <a16:creationId xmlns:a16="http://schemas.microsoft.com/office/drawing/2014/main" id="{73414793-C0E4-BC54-ECA9-ACFD27E369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1727" t="43959" r="23491" b="51732"/>
          <a:stretch>
            <a:fillRect/>
          </a:stretch>
        </p:blipFill>
        <p:spPr>
          <a:xfrm>
            <a:off x="2278743" y="5119914"/>
            <a:ext cx="4132369" cy="401334"/>
          </a:xfrm>
          <a:prstGeom prst="rect">
            <a:avLst/>
          </a:prstGeom>
        </p:spPr>
      </p:pic>
      <p:pic>
        <p:nvPicPr>
          <p:cNvPr id="5" name="Slika 4" descr="Slika na kojoj se prikazuje tekst, snimka zaslona, softver, Multimedijski softver&#10;&#10;Sadržaj generiran uz AI možda nije točan.">
            <a:extLst>
              <a:ext uri="{FF2B5EF4-FFF2-40B4-BE49-F238E27FC236}">
                <a16:creationId xmlns:a16="http://schemas.microsoft.com/office/drawing/2014/main" id="{7C8C0FC2-E8BC-5452-A565-98151F8E79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845" t="81868" r="22024" b="13130"/>
          <a:stretch>
            <a:fillRect/>
          </a:stretch>
        </p:blipFill>
        <p:spPr>
          <a:xfrm>
            <a:off x="2281645" y="6252029"/>
            <a:ext cx="4126418" cy="402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241858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Široki zaslon</PresentationFormat>
  <Paragraphs>0</Paragraphs>
  <Slides>12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Naslovi slajdova</vt:lpstr>
      </vt:variant>
      <vt:variant>
        <vt:i4>12</vt:i4>
      </vt:variant>
    </vt:vector>
  </HeadingPairs>
  <TitlesOfParts>
    <vt:vector size="13" baseType="lpstr">
      <vt:lpstr>Parallax</vt:lpstr>
      <vt:lpstr>Otkrivači grešaka </vt:lpstr>
      <vt:lpstr>Asinkroni distribuirani sustav</vt:lpstr>
      <vt:lpstr>Sustavi otporni na greške</vt:lpstr>
      <vt:lpstr>Konsenzus i atomsko emitiranje</vt:lpstr>
      <vt:lpstr>Sustavi otporni na greške</vt:lpstr>
      <vt:lpstr>Kvarovi</vt:lpstr>
      <vt:lpstr>Detektori kvarova</vt:lpstr>
      <vt:lpstr>Detektori kvarova</vt:lpstr>
      <vt:lpstr>Detektori kvarova</vt:lpstr>
      <vt:lpstr>Potpunost </vt:lpstr>
      <vt:lpstr>Točnost</vt:lpstr>
      <vt:lpstr>Konačna točnost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369</cp:revision>
  <dcterms:created xsi:type="dcterms:W3CDTF">2026-05-31T15:40:15Z</dcterms:created>
  <dcterms:modified xsi:type="dcterms:W3CDTF">2026-06-25T21:13:58Z</dcterms:modified>
</cp:coreProperties>
</file>